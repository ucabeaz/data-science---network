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639"/>
    <p:restoredTop sz="94610"/>
  </p:normalViewPr>
  <p:slideViewPr>
    <p:cSldViewPr snapToGrid="0" snapToObjects="1">
      <p:cViewPr>
        <p:scale>
          <a:sx n="90" d="100"/>
          <a:sy n="90" d="100"/>
        </p:scale>
        <p:origin x="-120" y="29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3238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yourselves briefly. State the research question: How does correlation-based network structure differ when we model the market at sector ETF level versus individual S&amp;P 500 stock level?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Emphasise that the core question is about scale: does the market look different when you zoom from 9 sector ETFs to 343 individual stocks? Mention Kukreti et al. (2020) as the reference paper that inspired this approach.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data granularity levels. The 2000 sector dataset has 9 ETFs because XLC and XLRE didn't exist until 2018. The 2018 dataset includes all 11. The S&amp;P 500 set has 343 stocks — the ones with complete price history over the full period. Mention the naming convention: each stock is prefixed with its GICS sector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quick — no more than 1 minute. The audience has seen correlation before. The key thing to stress is the distance transformation: it converts correlation into a proper metric so we can apply graph algorithms. Mention that the MST retains N-1 edges from N(N-1)/2 possible, extracting the backbone of the network.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heatmap: full-period Pearson correlation of daily log returns among 9 sector ETFs (2000-2026). Key point: even the weakest pair (Energy vs others) shows ρ ≈ 0.6, meaning sectors move together more than they diverge. This motivates looking at the stock level where we might find more heterogeneity.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figure. 343 stocks, nodes coloured by GICS sector. Point out the visible sector clustering — stocks from the same sector tend to group together in the MST, confirming that sector membership is a strong driver of co-movement. Highlight the hub-and-spoke topology: a few highly connected nodes (hubs) bridge multiple clusters. We'll identify those hubs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top 10 hub stocks by MST degree. UTL_AEE (Ameren, utilities) has 16 connections — surprising since utilities are traditionally defensive. MAT_PPG and IND_PH are industrials/materials which makes more sense as central connectors. Right chart: degree distribution is right-skewed (most nodes have 1-2 connections, few have 10+), consistent with a scale-free-like network. This means removing hub stocks would fragment the network — relevant for systemic risk.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S&amp;P 500 MST. With only 9 nodes the network is trivially small — every node is at most 2-3 hops from every other. XLI tends to be central because industrials correlate with many sectors. XLE is on the periphery, consistent with what we saw in the heatmap. The point: at sector level you lose all the rich internal structure that exists within each sector.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User-provided Financial_Network_Analysis_Prezi.pptx used to match layout, colours, and topic framing.
- User-provided Networks Presentation - DS.pdf used to align the propagation slide with the stated 'Propagation Model' and 'Propagation Results' direction.
[/Sources]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how average pairwise correlation evolves over time using a rolling 40-day window. Key events: the Global Financial Crisis (2008-09) shows a massive spike — correlations converge toward 1 as everything falls together. COVID crash (March 2020) shows a similar but sharper spike. Between crises, sector-level correlation stays higher and less volatile than stock-level, because averaging within sectors dampens idiosyncratic noise.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comparison slide. Walk through each row briefly. Key takeaway: sector-level analysis is useful for a quick macro view, but it masks significant within-sector heterogeneity. At the stock level, you discover that the real hubs are specific companies (not just 'the industrials sector') and that sector clustering is an emergent property of individual stock correlations, not imposed by sector labels.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three main takeaways: (1) scale matters — stock-level reveals what sector-level hides; (2) hub stocks are critical structural nodes; (3) crises collapse the network into near-complete correlation. For future work, mention threshold networks and PMFG as richer graph methods, regime detection to identify structural breaks automatically, and propagation/contagion models to test what happens when a hub stock fails. Thank the audience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5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C7293"/>
          </a:solidFill>
          <a:ln/>
        </p:spPr>
        <p:txBody>
          <a:bodyPr/>
          <a:lstStyle/>
          <a:p>
            <a:endParaRPr lang="en-GB"/>
          </a:p>
        </p:txBody>
      </p:sp>
      <p:sp>
        <p:nvSpPr>
          <p:cNvPr id="3" name="Text 1"/>
          <p:cNvSpPr/>
          <p:nvPr/>
        </p:nvSpPr>
        <p:spPr>
          <a:xfrm>
            <a:off x="731519" y="1097280"/>
            <a:ext cx="7899133" cy="1097280"/>
          </a:xfrm>
          <a:prstGeom prst="rect">
            <a:avLst/>
          </a:prstGeom>
          <a:noFill/>
          <a:ln/>
        </p:spPr>
        <p:txBody>
          <a:bodyPr wrap="square" lIns="0" tIns="0" rIns="0" bIns="0" rtlCol="0" anchor="ctr"/>
          <a:lstStyle/>
          <a:p>
            <a:pPr marL="0" indent="0" algn="l">
              <a:buNone/>
            </a:pPr>
            <a:r>
              <a:rPr lang="en-US" sz="3200" b="1" dirty="0">
                <a:solidFill>
                  <a:srgbClr val="FFFFFF"/>
                </a:solidFill>
                <a:latin typeface="Trebuchet MS" pitchFamily="34" charset="0"/>
                <a:ea typeface="Trebuchet MS" pitchFamily="34" charset="-122"/>
                <a:cs typeface="Trebuchet MS" pitchFamily="34" charset="-120"/>
              </a:rPr>
              <a:t>Scaling Market Networks in the S&amp;P 500: </a:t>
            </a:r>
          </a:p>
          <a:p>
            <a:pPr marL="0" indent="0" algn="l">
              <a:buNone/>
            </a:pPr>
            <a:r>
              <a:rPr lang="en-US" sz="3200" b="1" dirty="0">
                <a:solidFill>
                  <a:srgbClr val="FFFFFF"/>
                </a:solidFill>
                <a:latin typeface="Trebuchet MS" pitchFamily="34" charset="0"/>
                <a:ea typeface="Trebuchet MS" pitchFamily="34" charset="-122"/>
                <a:cs typeface="Trebuchet MS" pitchFamily="34" charset="-120"/>
              </a:rPr>
              <a:t>From Stocks to Sectors</a:t>
            </a:r>
            <a:endParaRPr lang="en-US" sz="3200" dirty="0"/>
          </a:p>
        </p:txBody>
      </p:sp>
      <p:sp>
        <p:nvSpPr>
          <p:cNvPr id="4" name="Text 2"/>
          <p:cNvSpPr/>
          <p:nvPr/>
        </p:nvSpPr>
        <p:spPr>
          <a:xfrm>
            <a:off x="731520" y="2194560"/>
            <a:ext cx="7680960" cy="548640"/>
          </a:xfrm>
          <a:prstGeom prst="rect">
            <a:avLst/>
          </a:prstGeom>
          <a:noFill/>
          <a:ln/>
        </p:spPr>
        <p:txBody>
          <a:bodyPr wrap="square" lIns="0" tIns="0" rIns="0" bIns="0" rtlCol="0" anchor="ctr"/>
          <a:lstStyle/>
          <a:p>
            <a:pPr marL="0" indent="0" algn="l">
              <a:buNone/>
            </a:pPr>
            <a:r>
              <a:rPr lang="en-US" sz="2000" dirty="0">
                <a:solidFill>
                  <a:srgbClr val="CADCFC"/>
                </a:solidFill>
                <a:latin typeface="Calibri" pitchFamily="34" charset="0"/>
                <a:ea typeface="Calibri" pitchFamily="34" charset="-122"/>
                <a:cs typeface="Calibri" pitchFamily="34" charset="-120"/>
              </a:rPr>
              <a:t>Sector ETFs vs Individual Stocks</a:t>
            </a:r>
            <a:endParaRPr lang="en-US" sz="2000" dirty="0"/>
          </a:p>
        </p:txBody>
      </p:sp>
      <p:sp>
        <p:nvSpPr>
          <p:cNvPr id="5" name="Text 3"/>
          <p:cNvSpPr/>
          <p:nvPr/>
        </p:nvSpPr>
        <p:spPr>
          <a:xfrm>
            <a:off x="731520" y="3200400"/>
            <a:ext cx="7680960" cy="1097280"/>
          </a:xfrm>
          <a:prstGeom prst="rect">
            <a:avLst/>
          </a:prstGeom>
          <a:noFill/>
          <a:ln/>
        </p:spPr>
        <p:txBody>
          <a:bodyPr wrap="square" rtlCol="0" anchor="ctr"/>
          <a:lstStyle/>
          <a:p>
            <a:pPr marL="0" indent="0" algn="l">
              <a:buNone/>
            </a:pPr>
            <a:r>
              <a:rPr lang="en-US" sz="1400" dirty="0">
                <a:solidFill>
                  <a:srgbClr val="94A3B8"/>
                </a:solidFill>
                <a:latin typeface="Calibri" pitchFamily="34" charset="0"/>
                <a:ea typeface="Calibri" pitchFamily="34" charset="-122"/>
                <a:cs typeface="Calibri" pitchFamily="34" charset="-120"/>
              </a:rPr>
              <a:t>COMP0047 — Data Science Challenge Lab</a:t>
            </a:r>
            <a:br>
              <a:rPr lang="en-US" sz="1400" dirty="0">
                <a:solidFill>
                  <a:srgbClr val="94A3B8"/>
                </a:solidFill>
                <a:latin typeface="Calibri" pitchFamily="34" charset="0"/>
                <a:ea typeface="Calibri" pitchFamily="34" charset="-122"/>
                <a:cs typeface="Calibri" pitchFamily="34" charset="-120"/>
              </a:rPr>
            </a:br>
            <a:endParaRPr lang="en-US" sz="1400" dirty="0">
              <a:solidFill>
                <a:srgbClr val="94A3B8"/>
              </a:solidFill>
              <a:latin typeface="Calibri" pitchFamily="34" charset="0"/>
              <a:ea typeface="Calibri" pitchFamily="34" charset="-122"/>
              <a:cs typeface="Calibri" pitchFamily="34" charset="-120"/>
            </a:endParaRPr>
          </a:p>
          <a:p>
            <a:pPr marL="0" indent="0" algn="l">
              <a:buNone/>
            </a:pPr>
            <a:r>
              <a:rPr lang="en-US" sz="1400" dirty="0">
                <a:solidFill>
                  <a:srgbClr val="94A3B8"/>
                </a:solidFill>
                <a:latin typeface="Calibri" pitchFamily="34" charset="0"/>
                <a:ea typeface="Calibri" pitchFamily="34" charset="-122"/>
                <a:cs typeface="Calibri" pitchFamily="34" charset="-120"/>
              </a:rPr>
              <a:t>Members: </a:t>
            </a:r>
            <a:r>
              <a:rPr lang="en-US" sz="1400" dirty="0" err="1">
                <a:solidFill>
                  <a:srgbClr val="94A3B8"/>
                </a:solidFill>
                <a:latin typeface="Calibri" pitchFamily="34" charset="0"/>
                <a:ea typeface="Calibri" pitchFamily="34" charset="-122"/>
                <a:cs typeface="Calibri" pitchFamily="34" charset="-120"/>
              </a:rPr>
              <a:t>Jieqing</a:t>
            </a:r>
            <a:r>
              <a:rPr lang="en-US" sz="1400" dirty="0">
                <a:solidFill>
                  <a:srgbClr val="94A3B8"/>
                </a:solidFill>
                <a:latin typeface="Calibri" pitchFamily="34" charset="0"/>
                <a:ea typeface="Calibri" pitchFamily="34" charset="-122"/>
                <a:cs typeface="Calibri" pitchFamily="34" charset="-120"/>
              </a:rPr>
              <a:t> Mo, Jasmine Chin, Samen Polishchuk, </a:t>
            </a:r>
            <a:r>
              <a:rPr lang="en-US" sz="1400" dirty="0" err="1">
                <a:solidFill>
                  <a:srgbClr val="94A3B8"/>
                </a:solidFill>
                <a:latin typeface="Calibri" pitchFamily="34" charset="0"/>
                <a:ea typeface="Calibri" pitchFamily="34" charset="-122"/>
                <a:cs typeface="Calibri" pitchFamily="34" charset="-120"/>
              </a:rPr>
              <a:t>Qizhe</a:t>
            </a:r>
            <a:r>
              <a:rPr lang="en-US" sz="1400" dirty="0">
                <a:solidFill>
                  <a:srgbClr val="94A3B8"/>
                </a:solidFill>
                <a:latin typeface="Calibri" pitchFamily="34" charset="0"/>
                <a:ea typeface="Calibri" pitchFamily="34" charset="-122"/>
                <a:cs typeface="Calibri" pitchFamily="34" charset="-120"/>
              </a:rPr>
              <a:t> Jiang, Finn Smith, </a:t>
            </a:r>
            <a:r>
              <a:rPr lang="en-US" sz="1400" dirty="0" err="1">
                <a:solidFill>
                  <a:srgbClr val="94A3B8"/>
                </a:solidFill>
                <a:latin typeface="Calibri" pitchFamily="34" charset="0"/>
                <a:ea typeface="Calibri" pitchFamily="34" charset="-122"/>
                <a:cs typeface="Calibri" pitchFamily="34" charset="-120"/>
              </a:rPr>
              <a:t>Abbinav</a:t>
            </a:r>
            <a:r>
              <a:rPr lang="en-US" sz="1400" dirty="0">
                <a:solidFill>
                  <a:srgbClr val="94A3B8"/>
                </a:solidFill>
                <a:latin typeface="Calibri" pitchFamily="34" charset="0"/>
                <a:ea typeface="Calibri" pitchFamily="34" charset="-122"/>
                <a:cs typeface="Calibri" pitchFamily="34" charset="-120"/>
              </a:rPr>
              <a:t> Sankar, Charlotte Connors, Aidan </a:t>
            </a:r>
            <a:r>
              <a:rPr lang="en-US" sz="1400" dirty="0" err="1">
                <a:solidFill>
                  <a:srgbClr val="94A3B8"/>
                </a:solidFill>
                <a:latin typeface="Calibri" pitchFamily="34" charset="0"/>
                <a:ea typeface="Calibri" pitchFamily="34" charset="-122"/>
                <a:cs typeface="Calibri" pitchFamily="34" charset="-120"/>
              </a:rPr>
              <a:t>Meazzo</a:t>
            </a:r>
            <a:r>
              <a:rPr lang="en-US" sz="1400" dirty="0">
                <a:solidFill>
                  <a:srgbClr val="94A3B8"/>
                </a:solidFill>
                <a:latin typeface="Calibri" pitchFamily="34" charset="0"/>
                <a:ea typeface="Calibri" pitchFamily="34" charset="-122"/>
                <a:cs typeface="Calibri" pitchFamily="34" charset="-120"/>
              </a:rPr>
              <a:t>, Zheng Zhu, Lorenzo Damiano</a:t>
            </a:r>
            <a:endParaRPr lang="en-US" sz="1400" dirty="0"/>
          </a:p>
        </p:txBody>
      </p:sp>
      <p:sp>
        <p:nvSpPr>
          <p:cNvPr id="6" name="Shape 4"/>
          <p:cNvSpPr/>
          <p:nvPr/>
        </p:nvSpPr>
        <p:spPr>
          <a:xfrm>
            <a:off x="0" y="4892040"/>
            <a:ext cx="9144000" cy="256032"/>
          </a:xfrm>
          <a:prstGeom prst="rect">
            <a:avLst/>
          </a:prstGeom>
          <a:solidFill>
            <a:srgbClr val="1C7293"/>
          </a:solidFill>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2F5"/>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lgn="l">
              <a:buNone/>
            </a:pPr>
            <a:r>
              <a:rPr lang="en-US" sz="3200" b="1" dirty="0">
                <a:solidFill>
                  <a:srgbClr val="1A1A2E"/>
                </a:solidFill>
                <a:latin typeface="Trebuchet MS" pitchFamily="34" charset="0"/>
                <a:ea typeface="Trebuchet MS" pitchFamily="34" charset="-122"/>
                <a:cs typeface="Trebuchet MS" pitchFamily="34" charset="-120"/>
              </a:rPr>
              <a:t>Research Objectives</a:t>
            </a:r>
            <a:endParaRPr lang="en-US" sz="3200" dirty="0"/>
          </a:p>
        </p:txBody>
      </p:sp>
      <p:sp>
        <p:nvSpPr>
          <p:cNvPr id="3" name="Shape 1"/>
          <p:cNvSpPr/>
          <p:nvPr/>
        </p:nvSpPr>
        <p:spPr>
          <a:xfrm>
            <a:off x="731520" y="1298448"/>
            <a:ext cx="164592" cy="164592"/>
          </a:xfrm>
          <a:prstGeom prst="ellipse">
            <a:avLst/>
          </a:prstGeom>
          <a:solidFill>
            <a:srgbClr val="1C7293"/>
          </a:solidFill>
          <a:ln/>
        </p:spPr>
        <p:txBody>
          <a:bodyPr/>
          <a:lstStyle/>
          <a:p>
            <a:endParaRPr lang="en-GB"/>
          </a:p>
        </p:txBody>
      </p:sp>
      <p:sp>
        <p:nvSpPr>
          <p:cNvPr id="4" name="Text 2"/>
          <p:cNvSpPr/>
          <p:nvPr/>
        </p:nvSpPr>
        <p:spPr>
          <a:xfrm>
            <a:off x="1051560" y="1143000"/>
            <a:ext cx="7315200" cy="365760"/>
          </a:xfrm>
          <a:prstGeom prst="rect">
            <a:avLst/>
          </a:prstGeom>
          <a:noFill/>
          <a:ln/>
        </p:spPr>
        <p:txBody>
          <a:bodyPr wrap="square" lIns="0" tIns="0" rIns="0" bIns="0" rtlCol="0" anchor="ctr"/>
          <a:lstStyle/>
          <a:p>
            <a:pPr marL="0" indent="0" algn="l">
              <a:buNone/>
            </a:pPr>
            <a:r>
              <a:rPr lang="en-US" sz="1600" b="1" dirty="0">
                <a:solidFill>
                  <a:srgbClr val="1A1A2E"/>
                </a:solidFill>
                <a:latin typeface="Trebuchet MS" pitchFamily="34" charset="0"/>
                <a:ea typeface="Trebuchet MS" pitchFamily="34" charset="-122"/>
                <a:cs typeface="Trebuchet MS" pitchFamily="34" charset="-120"/>
              </a:rPr>
              <a:t>Compare network scales</a:t>
            </a:r>
            <a:endParaRPr lang="en-US" sz="1600" dirty="0"/>
          </a:p>
        </p:txBody>
      </p:sp>
      <p:sp>
        <p:nvSpPr>
          <p:cNvPr id="5" name="Text 3"/>
          <p:cNvSpPr/>
          <p:nvPr/>
        </p:nvSpPr>
        <p:spPr>
          <a:xfrm>
            <a:off x="1051560" y="1508760"/>
            <a:ext cx="7315200" cy="457200"/>
          </a:xfrm>
          <a:prstGeom prst="rect">
            <a:avLst/>
          </a:prstGeom>
          <a:noFill/>
          <a:ln/>
        </p:spPr>
        <p:txBody>
          <a:bodyPr wrap="square" lIns="0" tIns="0" rIns="0" bIns="0" rtlCol="0" anchor="ctr"/>
          <a:lstStyle/>
          <a:p>
            <a:pPr marL="0" indent="0" algn="l">
              <a:buNone/>
            </a:pPr>
            <a:r>
              <a:rPr lang="en-US" sz="1300" dirty="0">
                <a:solidFill>
                  <a:srgbClr val="334155"/>
                </a:solidFill>
                <a:latin typeface="Calibri" pitchFamily="34" charset="0"/>
                <a:ea typeface="Calibri" pitchFamily="34" charset="-122"/>
                <a:cs typeface="Calibri" pitchFamily="34" charset="-120"/>
              </a:rPr>
              <a:t>Build correlation-based networks at sector ETF level (9-11 nodes) and individual stock level (343 nodes)</a:t>
            </a:r>
            <a:endParaRPr lang="en-US" sz="1300" dirty="0"/>
          </a:p>
        </p:txBody>
      </p:sp>
      <p:sp>
        <p:nvSpPr>
          <p:cNvPr id="6" name="Shape 4"/>
          <p:cNvSpPr/>
          <p:nvPr/>
        </p:nvSpPr>
        <p:spPr>
          <a:xfrm>
            <a:off x="731520" y="2212848"/>
            <a:ext cx="164592" cy="164592"/>
          </a:xfrm>
          <a:prstGeom prst="ellipse">
            <a:avLst/>
          </a:prstGeom>
          <a:solidFill>
            <a:srgbClr val="1C7293"/>
          </a:solidFill>
          <a:ln/>
        </p:spPr>
        <p:txBody>
          <a:bodyPr/>
          <a:lstStyle/>
          <a:p>
            <a:endParaRPr lang="en-GB"/>
          </a:p>
        </p:txBody>
      </p:sp>
      <p:sp>
        <p:nvSpPr>
          <p:cNvPr id="7" name="Text 5"/>
          <p:cNvSpPr/>
          <p:nvPr/>
        </p:nvSpPr>
        <p:spPr>
          <a:xfrm>
            <a:off x="1051560" y="2057400"/>
            <a:ext cx="7315200" cy="365760"/>
          </a:xfrm>
          <a:prstGeom prst="rect">
            <a:avLst/>
          </a:prstGeom>
          <a:noFill/>
          <a:ln/>
        </p:spPr>
        <p:txBody>
          <a:bodyPr wrap="square" lIns="0" tIns="0" rIns="0" bIns="0" rtlCol="0" anchor="ctr"/>
          <a:lstStyle/>
          <a:p>
            <a:pPr marL="0" indent="0" algn="l">
              <a:buNone/>
            </a:pPr>
            <a:r>
              <a:rPr lang="en-US" sz="1600" b="1" dirty="0">
                <a:solidFill>
                  <a:srgbClr val="1A1A2E"/>
                </a:solidFill>
                <a:latin typeface="Trebuchet MS" pitchFamily="34" charset="0"/>
                <a:ea typeface="Trebuchet MS" pitchFamily="34" charset="-122"/>
                <a:cs typeface="Trebuchet MS" pitchFamily="34" charset="-120"/>
              </a:rPr>
              <a:t>Identify structural differences</a:t>
            </a:r>
            <a:endParaRPr lang="en-US" sz="1600" dirty="0"/>
          </a:p>
        </p:txBody>
      </p:sp>
      <p:sp>
        <p:nvSpPr>
          <p:cNvPr id="8" name="Text 6"/>
          <p:cNvSpPr/>
          <p:nvPr/>
        </p:nvSpPr>
        <p:spPr>
          <a:xfrm>
            <a:off x="1051560" y="2423160"/>
            <a:ext cx="7315200" cy="457200"/>
          </a:xfrm>
          <a:prstGeom prst="rect">
            <a:avLst/>
          </a:prstGeom>
          <a:noFill/>
          <a:ln/>
        </p:spPr>
        <p:txBody>
          <a:bodyPr wrap="square" lIns="0" tIns="0" rIns="0" bIns="0" rtlCol="0" anchor="ctr"/>
          <a:lstStyle/>
          <a:p>
            <a:pPr marL="0" indent="0" algn="l">
              <a:buNone/>
            </a:pPr>
            <a:r>
              <a:rPr lang="en-US" sz="1300" dirty="0">
                <a:solidFill>
                  <a:srgbClr val="334155"/>
                </a:solidFill>
                <a:latin typeface="Calibri" pitchFamily="34" charset="0"/>
                <a:ea typeface="Calibri" pitchFamily="34" charset="-122"/>
                <a:cs typeface="Calibri" pitchFamily="34" charset="-120"/>
              </a:rPr>
              <a:t>Use Minimum Spanning Trees and degree analysis to find hub stocks and sector clustering patterns</a:t>
            </a:r>
            <a:endParaRPr lang="en-US" sz="1300" dirty="0"/>
          </a:p>
        </p:txBody>
      </p:sp>
      <p:sp>
        <p:nvSpPr>
          <p:cNvPr id="9" name="Shape 7"/>
          <p:cNvSpPr/>
          <p:nvPr/>
        </p:nvSpPr>
        <p:spPr>
          <a:xfrm>
            <a:off x="731520" y="3127248"/>
            <a:ext cx="164592" cy="164592"/>
          </a:xfrm>
          <a:prstGeom prst="ellipse">
            <a:avLst/>
          </a:prstGeom>
          <a:solidFill>
            <a:srgbClr val="1C7293"/>
          </a:solidFill>
          <a:ln/>
        </p:spPr>
        <p:txBody>
          <a:bodyPr/>
          <a:lstStyle/>
          <a:p>
            <a:endParaRPr lang="en-GB"/>
          </a:p>
        </p:txBody>
      </p:sp>
      <p:sp>
        <p:nvSpPr>
          <p:cNvPr id="10" name="Text 8"/>
          <p:cNvSpPr/>
          <p:nvPr/>
        </p:nvSpPr>
        <p:spPr>
          <a:xfrm>
            <a:off x="1051560" y="2971800"/>
            <a:ext cx="7315200" cy="365760"/>
          </a:xfrm>
          <a:prstGeom prst="rect">
            <a:avLst/>
          </a:prstGeom>
          <a:noFill/>
          <a:ln/>
        </p:spPr>
        <p:txBody>
          <a:bodyPr wrap="square" lIns="0" tIns="0" rIns="0" bIns="0" rtlCol="0" anchor="ctr"/>
          <a:lstStyle/>
          <a:p>
            <a:pPr marL="0" indent="0" algn="l">
              <a:buNone/>
            </a:pPr>
            <a:r>
              <a:rPr lang="en-US" sz="1600" b="1" dirty="0">
                <a:solidFill>
                  <a:srgbClr val="1A1A2E"/>
                </a:solidFill>
                <a:latin typeface="Trebuchet MS" pitchFamily="34" charset="0"/>
                <a:ea typeface="Trebuchet MS" pitchFamily="34" charset="-122"/>
                <a:cs typeface="Trebuchet MS" pitchFamily="34" charset="-120"/>
              </a:rPr>
              <a:t>Analyse dynamics</a:t>
            </a:r>
            <a:endParaRPr lang="en-US" sz="1600" dirty="0"/>
          </a:p>
        </p:txBody>
      </p:sp>
      <p:sp>
        <p:nvSpPr>
          <p:cNvPr id="11" name="Text 9"/>
          <p:cNvSpPr/>
          <p:nvPr/>
        </p:nvSpPr>
        <p:spPr>
          <a:xfrm>
            <a:off x="1051560" y="3337560"/>
            <a:ext cx="7315200" cy="457200"/>
          </a:xfrm>
          <a:prstGeom prst="rect">
            <a:avLst/>
          </a:prstGeom>
          <a:noFill/>
          <a:ln/>
        </p:spPr>
        <p:txBody>
          <a:bodyPr wrap="square" lIns="0" tIns="0" rIns="0" bIns="0" rtlCol="0" anchor="ctr"/>
          <a:lstStyle/>
          <a:p>
            <a:pPr marL="0" indent="0" algn="l">
              <a:buNone/>
            </a:pPr>
            <a:r>
              <a:rPr lang="en-US" sz="1300" dirty="0">
                <a:solidFill>
                  <a:srgbClr val="334155"/>
                </a:solidFill>
                <a:latin typeface="Calibri" pitchFamily="34" charset="0"/>
                <a:ea typeface="Calibri" pitchFamily="34" charset="-122"/>
                <a:cs typeface="Calibri" pitchFamily="34" charset="-120"/>
              </a:rPr>
              <a:t>Track how average correlation evolves over time using rolling windows (epoch=40, shift=20 days)</a:t>
            </a:r>
            <a:endParaRPr lang="en-US" sz="1300" dirty="0"/>
          </a:p>
        </p:txBody>
      </p:sp>
      <p:sp>
        <p:nvSpPr>
          <p:cNvPr id="12" name="Shape 10"/>
          <p:cNvSpPr/>
          <p:nvPr/>
        </p:nvSpPr>
        <p:spPr>
          <a:xfrm>
            <a:off x="731520" y="4041648"/>
            <a:ext cx="164592" cy="164592"/>
          </a:xfrm>
          <a:prstGeom prst="ellipse">
            <a:avLst/>
          </a:prstGeom>
          <a:solidFill>
            <a:srgbClr val="1C7293"/>
          </a:solidFill>
          <a:ln/>
        </p:spPr>
        <p:txBody>
          <a:bodyPr/>
          <a:lstStyle/>
          <a:p>
            <a:endParaRPr lang="en-GB"/>
          </a:p>
        </p:txBody>
      </p:sp>
      <p:sp>
        <p:nvSpPr>
          <p:cNvPr id="13" name="Text 11"/>
          <p:cNvSpPr/>
          <p:nvPr/>
        </p:nvSpPr>
        <p:spPr>
          <a:xfrm>
            <a:off x="1051560" y="3886200"/>
            <a:ext cx="7315200" cy="365760"/>
          </a:xfrm>
          <a:prstGeom prst="rect">
            <a:avLst/>
          </a:prstGeom>
          <a:noFill/>
          <a:ln/>
        </p:spPr>
        <p:txBody>
          <a:bodyPr wrap="square" lIns="0" tIns="0" rIns="0" bIns="0" rtlCol="0" anchor="ctr"/>
          <a:lstStyle/>
          <a:p>
            <a:pPr marL="0" indent="0" algn="l">
              <a:buNone/>
            </a:pPr>
            <a:r>
              <a:rPr lang="en-US" sz="1600" b="1" dirty="0">
                <a:solidFill>
                  <a:srgbClr val="1A1A2E"/>
                </a:solidFill>
                <a:latin typeface="Trebuchet MS" pitchFamily="34" charset="0"/>
                <a:ea typeface="Trebuchet MS" pitchFamily="34" charset="-122"/>
                <a:cs typeface="Trebuchet MS" pitchFamily="34" charset="-120"/>
              </a:rPr>
              <a:t>Interpret financial meaning</a:t>
            </a:r>
            <a:endParaRPr lang="en-US" sz="1600" dirty="0"/>
          </a:p>
        </p:txBody>
      </p:sp>
      <p:sp>
        <p:nvSpPr>
          <p:cNvPr id="14" name="Text 12"/>
          <p:cNvSpPr/>
          <p:nvPr/>
        </p:nvSpPr>
        <p:spPr>
          <a:xfrm>
            <a:off x="1051560" y="4251960"/>
            <a:ext cx="7315200" cy="457200"/>
          </a:xfrm>
          <a:prstGeom prst="rect">
            <a:avLst/>
          </a:prstGeom>
          <a:noFill/>
          <a:ln/>
        </p:spPr>
        <p:txBody>
          <a:bodyPr wrap="square" lIns="0" tIns="0" rIns="0" bIns="0" rtlCol="0" anchor="ctr"/>
          <a:lstStyle/>
          <a:p>
            <a:pPr marL="0" indent="0" algn="l">
              <a:buNone/>
            </a:pPr>
            <a:r>
              <a:rPr lang="en-US" sz="1300" dirty="0">
                <a:solidFill>
                  <a:srgbClr val="334155"/>
                </a:solidFill>
                <a:latin typeface="Calibri" pitchFamily="34" charset="0"/>
                <a:ea typeface="Calibri" pitchFamily="34" charset="-122"/>
                <a:cs typeface="Calibri" pitchFamily="34" charset="-120"/>
              </a:rPr>
              <a:t>Understand what network topology reveals about diversification and systemic risk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2F5"/>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lgn="l">
              <a:buNone/>
            </a:pPr>
            <a:r>
              <a:rPr lang="en-US" sz="3200" b="1" dirty="0">
                <a:solidFill>
                  <a:srgbClr val="1A1A2E"/>
                </a:solidFill>
                <a:latin typeface="Trebuchet MS" pitchFamily="34" charset="0"/>
                <a:ea typeface="Trebuchet MS" pitchFamily="34" charset="-122"/>
                <a:cs typeface="Trebuchet MS" pitchFamily="34" charset="-120"/>
              </a:rPr>
              <a:t>Data Description</a:t>
            </a:r>
            <a:endParaRPr lang="en-US" sz="3200" dirty="0"/>
          </a:p>
        </p:txBody>
      </p:sp>
      <p:sp>
        <p:nvSpPr>
          <p:cNvPr id="3" name="Shape 1"/>
          <p:cNvSpPr/>
          <p:nvPr/>
        </p:nvSpPr>
        <p:spPr>
          <a:xfrm>
            <a:off x="548640" y="1188720"/>
            <a:ext cx="3840480" cy="329184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GB"/>
          </a:p>
        </p:txBody>
      </p:sp>
      <p:sp>
        <p:nvSpPr>
          <p:cNvPr id="4" name="Shape 2"/>
          <p:cNvSpPr/>
          <p:nvPr/>
        </p:nvSpPr>
        <p:spPr>
          <a:xfrm>
            <a:off x="548640" y="1188720"/>
            <a:ext cx="3840480" cy="54864"/>
          </a:xfrm>
          <a:prstGeom prst="rect">
            <a:avLst/>
          </a:prstGeom>
          <a:solidFill>
            <a:srgbClr val="1C7293"/>
          </a:solidFill>
          <a:ln/>
        </p:spPr>
        <p:txBody>
          <a:bodyPr/>
          <a:lstStyle/>
          <a:p>
            <a:endParaRPr lang="en-GB"/>
          </a:p>
        </p:txBody>
      </p:sp>
      <p:sp>
        <p:nvSpPr>
          <p:cNvPr id="5" name="Text 3"/>
          <p:cNvSpPr/>
          <p:nvPr/>
        </p:nvSpPr>
        <p:spPr>
          <a:xfrm>
            <a:off x="731520" y="1371600"/>
            <a:ext cx="3474720" cy="411480"/>
          </a:xfrm>
          <a:prstGeom prst="rect">
            <a:avLst/>
          </a:prstGeom>
          <a:noFill/>
          <a:ln/>
        </p:spPr>
        <p:txBody>
          <a:bodyPr wrap="square" lIns="0" tIns="0" rIns="0" bIns="0" rtlCol="0" anchor="ctr"/>
          <a:lstStyle/>
          <a:p>
            <a:pPr marL="0" indent="0" algn="l">
              <a:buNone/>
            </a:pPr>
            <a:r>
              <a:rPr lang="en-US" sz="1800" b="1" dirty="0">
                <a:solidFill>
                  <a:srgbClr val="1A1A2E"/>
                </a:solidFill>
                <a:latin typeface="Trebuchet MS" pitchFamily="34" charset="0"/>
                <a:ea typeface="Trebuchet MS" pitchFamily="34" charset="-122"/>
                <a:cs typeface="Trebuchet MS" pitchFamily="34" charset="-120"/>
              </a:rPr>
              <a:t>Sector ETFs</a:t>
            </a:r>
            <a:endParaRPr lang="en-US" sz="1800" dirty="0"/>
          </a:p>
        </p:txBody>
      </p:sp>
      <p:sp>
        <p:nvSpPr>
          <p:cNvPr id="6" name="Text 4"/>
          <p:cNvSpPr/>
          <p:nvPr/>
        </p:nvSpPr>
        <p:spPr>
          <a:xfrm>
            <a:off x="731520" y="1874520"/>
            <a:ext cx="3474720" cy="2377440"/>
          </a:xfrm>
          <a:prstGeom prst="rect">
            <a:avLst/>
          </a:prstGeom>
          <a:noFill/>
          <a:ln/>
        </p:spPr>
        <p:txBody>
          <a:bodyPr wrap="square" rtlCol="0" anchor="ctr"/>
          <a:lstStyle/>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Source: Yahoo Finance (Adj. Close)</a:t>
            </a:r>
            <a:endParaRPr lang="en-US" sz="1250" dirty="0"/>
          </a:p>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Period: Jan 2000 – Mar 2026</a:t>
            </a:r>
            <a:endParaRPr lang="en-US" sz="1250" dirty="0"/>
          </a:p>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2000 dataset: 9 ETFs, 6 562 days</a:t>
            </a:r>
            <a:endParaRPr lang="en-US" sz="1250" dirty="0"/>
          </a:p>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2018 dataset: 11 ETFs, 1 919 days</a:t>
            </a:r>
            <a:endParaRPr lang="en-US" sz="1250" dirty="0"/>
          </a:p>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XLF, XLK, XLE, XLV, XLU, XLB, XLI, XLP, XLY</a:t>
            </a:r>
            <a:endParaRPr lang="en-US" sz="1250" dirty="0"/>
          </a:p>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 XLC, XLRE from 2018</a:t>
            </a:r>
            <a:endParaRPr lang="en-US" sz="1250" dirty="0"/>
          </a:p>
        </p:txBody>
      </p:sp>
      <p:sp>
        <p:nvSpPr>
          <p:cNvPr id="7" name="Shape 5"/>
          <p:cNvSpPr/>
          <p:nvPr/>
        </p:nvSpPr>
        <p:spPr>
          <a:xfrm>
            <a:off x="4754880" y="1188720"/>
            <a:ext cx="3840480" cy="329184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GB"/>
          </a:p>
        </p:txBody>
      </p:sp>
      <p:sp>
        <p:nvSpPr>
          <p:cNvPr id="8" name="Shape 6"/>
          <p:cNvSpPr/>
          <p:nvPr/>
        </p:nvSpPr>
        <p:spPr>
          <a:xfrm>
            <a:off x="4754880" y="1188720"/>
            <a:ext cx="3840480" cy="54864"/>
          </a:xfrm>
          <a:prstGeom prst="rect">
            <a:avLst/>
          </a:prstGeom>
          <a:solidFill>
            <a:srgbClr val="1E2761"/>
          </a:solidFill>
          <a:ln/>
        </p:spPr>
        <p:txBody>
          <a:bodyPr/>
          <a:lstStyle/>
          <a:p>
            <a:endParaRPr lang="en-GB"/>
          </a:p>
        </p:txBody>
      </p:sp>
      <p:sp>
        <p:nvSpPr>
          <p:cNvPr id="9" name="Text 7"/>
          <p:cNvSpPr/>
          <p:nvPr/>
        </p:nvSpPr>
        <p:spPr>
          <a:xfrm>
            <a:off x="4937760" y="1371600"/>
            <a:ext cx="3474720" cy="411480"/>
          </a:xfrm>
          <a:prstGeom prst="rect">
            <a:avLst/>
          </a:prstGeom>
          <a:noFill/>
          <a:ln/>
        </p:spPr>
        <p:txBody>
          <a:bodyPr wrap="square" lIns="0" tIns="0" rIns="0" bIns="0" rtlCol="0" anchor="ctr"/>
          <a:lstStyle/>
          <a:p>
            <a:pPr marL="0" indent="0" algn="l">
              <a:buNone/>
            </a:pPr>
            <a:r>
              <a:rPr lang="en-US" sz="1800" b="1" dirty="0">
                <a:solidFill>
                  <a:srgbClr val="1A1A2E"/>
                </a:solidFill>
                <a:latin typeface="Trebuchet MS" pitchFamily="34" charset="0"/>
                <a:ea typeface="Trebuchet MS" pitchFamily="34" charset="-122"/>
                <a:cs typeface="Trebuchet MS" pitchFamily="34" charset="-120"/>
              </a:rPr>
              <a:t>S&amp;P 500 Constituents</a:t>
            </a:r>
            <a:endParaRPr lang="en-US" sz="1800" dirty="0"/>
          </a:p>
        </p:txBody>
      </p:sp>
      <p:sp>
        <p:nvSpPr>
          <p:cNvPr id="10" name="Text 8"/>
          <p:cNvSpPr/>
          <p:nvPr/>
        </p:nvSpPr>
        <p:spPr>
          <a:xfrm>
            <a:off x="4937760" y="1874520"/>
            <a:ext cx="3474720" cy="2377440"/>
          </a:xfrm>
          <a:prstGeom prst="rect">
            <a:avLst/>
          </a:prstGeom>
          <a:noFill/>
          <a:ln/>
        </p:spPr>
        <p:txBody>
          <a:bodyPr wrap="square" rtlCol="0" anchor="ctr"/>
          <a:lstStyle/>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Source: Yahoo Finance (Adj. Close)</a:t>
            </a:r>
            <a:endParaRPr lang="en-US" sz="1250" dirty="0"/>
          </a:p>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Period: Jan 2000 – Mar 2026</a:t>
            </a:r>
            <a:endParaRPr lang="en-US" sz="1250" dirty="0"/>
          </a:p>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343 stocks across 11 GICS sectors</a:t>
            </a:r>
            <a:endParaRPr lang="en-US" sz="1250" dirty="0"/>
          </a:p>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6 583 trading days</a:t>
            </a:r>
            <a:endParaRPr lang="en-US" sz="1250" dirty="0"/>
          </a:p>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Naming: SECTOR_TICKER</a:t>
            </a:r>
            <a:endParaRPr lang="en-US" sz="1250" dirty="0"/>
          </a:p>
          <a:p>
            <a:pPr marL="0" indent="0" algn="l">
              <a:lnSpc>
                <a:spcPct val="135000"/>
              </a:lnSpc>
              <a:buNone/>
            </a:pPr>
            <a:r>
              <a:rPr lang="en-US" sz="1250" dirty="0">
                <a:solidFill>
                  <a:srgbClr val="334155"/>
                </a:solidFill>
                <a:latin typeface="Calibri" pitchFamily="34" charset="0"/>
                <a:ea typeface="Calibri" pitchFamily="34" charset="-122"/>
                <a:cs typeface="Calibri" pitchFamily="34" charset="-120"/>
              </a:rPr>
              <a:t>e.g. IT_AAPL, FIN_JPM, ENE_XOM</a:t>
            </a:r>
            <a:endParaRPr lang="en-US" sz="1250" dirty="0"/>
          </a:p>
        </p:txBody>
      </p:sp>
      <p:sp>
        <p:nvSpPr>
          <p:cNvPr id="11" name="Text 9"/>
          <p:cNvSpPr/>
          <p:nvPr/>
        </p:nvSpPr>
        <p:spPr>
          <a:xfrm>
            <a:off x="731520" y="4663440"/>
            <a:ext cx="7680960" cy="320040"/>
          </a:xfrm>
          <a:prstGeom prst="rect">
            <a:avLst/>
          </a:prstGeom>
          <a:noFill/>
          <a:ln/>
        </p:spPr>
        <p:txBody>
          <a:bodyPr wrap="square" lIns="0" tIns="0" rIns="0" bIns="0" rtlCol="0" anchor="ctr"/>
          <a:lstStyle/>
          <a:p>
            <a:pPr marL="0" indent="0" algn="l">
              <a:buNone/>
            </a:pPr>
            <a:r>
              <a:rPr lang="en-US" sz="1000" i="1" dirty="0">
                <a:solidFill>
                  <a:srgbClr val="64748B"/>
                </a:solidFill>
                <a:latin typeface="Calibri" pitchFamily="34" charset="0"/>
                <a:ea typeface="Calibri" pitchFamily="34" charset="-122"/>
                <a:cs typeface="Calibri" pitchFamily="34" charset="-120"/>
              </a:rPr>
              <a:t>Log returns computed as ln(Pₜ/Pₜ₋₁). NaN rows dropped per dataset.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5"/>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lgn="l">
              <a:buNone/>
            </a:pPr>
            <a:r>
              <a:rPr lang="en-US" sz="3200" b="1" dirty="0">
                <a:solidFill>
                  <a:srgbClr val="1A1A2E"/>
                </a:solidFill>
                <a:latin typeface="Trebuchet MS" pitchFamily="34" charset="0"/>
                <a:ea typeface="Trebuchet MS" pitchFamily="34" charset="-122"/>
                <a:cs typeface="Trebuchet MS" pitchFamily="34" charset="-120"/>
              </a:rPr>
              <a:t>Methodology</a:t>
            </a:r>
            <a:endParaRPr lang="en-US" sz="3200" dirty="0"/>
          </a:p>
        </p:txBody>
      </p:sp>
      <p:sp>
        <p:nvSpPr>
          <p:cNvPr id="3" name="Shape 1"/>
          <p:cNvSpPr/>
          <p:nvPr/>
        </p:nvSpPr>
        <p:spPr>
          <a:xfrm>
            <a:off x="731520" y="1143000"/>
            <a:ext cx="411480" cy="411480"/>
          </a:xfrm>
          <a:prstGeom prst="ellipse">
            <a:avLst/>
          </a:prstGeom>
          <a:solidFill>
            <a:srgbClr val="1C7293"/>
          </a:solidFill>
          <a:ln/>
        </p:spPr>
        <p:txBody>
          <a:bodyPr/>
          <a:lstStyle/>
          <a:p>
            <a:endParaRPr lang="en-GB"/>
          </a:p>
        </p:txBody>
      </p:sp>
      <p:sp>
        <p:nvSpPr>
          <p:cNvPr id="4" name="Text 2"/>
          <p:cNvSpPr/>
          <p:nvPr/>
        </p:nvSpPr>
        <p:spPr>
          <a:xfrm>
            <a:off x="731520" y="114300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5" name="Text 3"/>
          <p:cNvSpPr/>
          <p:nvPr/>
        </p:nvSpPr>
        <p:spPr>
          <a:xfrm>
            <a:off x="1325880" y="1115568"/>
            <a:ext cx="2743200" cy="274320"/>
          </a:xfrm>
          <a:prstGeom prst="rect">
            <a:avLst/>
          </a:prstGeom>
          <a:noFill/>
          <a:ln/>
        </p:spPr>
        <p:txBody>
          <a:bodyPr wrap="square" lIns="0" tIns="0" rIns="0" bIns="0" rtlCol="0" anchor="ctr"/>
          <a:lstStyle/>
          <a:p>
            <a:pPr marL="0" indent="0" algn="l">
              <a:buNone/>
            </a:pPr>
            <a:r>
              <a:rPr lang="en-US" sz="1500" b="1" dirty="0">
                <a:solidFill>
                  <a:srgbClr val="1A1A2E"/>
                </a:solidFill>
                <a:latin typeface="Trebuchet MS" pitchFamily="34" charset="0"/>
                <a:ea typeface="Trebuchet MS" pitchFamily="34" charset="-122"/>
                <a:cs typeface="Trebuchet MS" pitchFamily="34" charset="-120"/>
              </a:rPr>
              <a:t>Log Returns</a:t>
            </a:r>
            <a:endParaRPr lang="en-US" sz="1500" dirty="0"/>
          </a:p>
        </p:txBody>
      </p:sp>
      <p:sp>
        <p:nvSpPr>
          <p:cNvPr id="6" name="Text 4"/>
          <p:cNvSpPr/>
          <p:nvPr/>
        </p:nvSpPr>
        <p:spPr>
          <a:xfrm>
            <a:off x="1325880" y="1399032"/>
            <a:ext cx="6858000" cy="320040"/>
          </a:xfrm>
          <a:prstGeom prst="rect">
            <a:avLst/>
          </a:prstGeom>
          <a:noFill/>
          <a:ln/>
        </p:spPr>
        <p:txBody>
          <a:bodyPr wrap="square" lIns="0" tIns="0" rIns="0" bIns="0" rtlCol="0" anchor="ctr"/>
          <a:lstStyle/>
          <a:p>
            <a:pPr marL="0" indent="0" algn="l">
              <a:buNone/>
            </a:pPr>
            <a:r>
              <a:rPr lang="en-US" sz="1250" dirty="0">
                <a:solidFill>
                  <a:srgbClr val="334155"/>
                </a:solidFill>
                <a:latin typeface="Calibri" pitchFamily="34" charset="0"/>
                <a:ea typeface="Calibri" pitchFamily="34" charset="-122"/>
                <a:cs typeface="Calibri" pitchFamily="34" charset="-120"/>
              </a:rPr>
              <a:t>Compute daily log returns from adjusted close prices</a:t>
            </a:r>
            <a:endParaRPr lang="en-US" sz="1250" dirty="0"/>
          </a:p>
        </p:txBody>
      </p:sp>
      <p:sp>
        <p:nvSpPr>
          <p:cNvPr id="7" name="Shape 5"/>
          <p:cNvSpPr/>
          <p:nvPr/>
        </p:nvSpPr>
        <p:spPr>
          <a:xfrm>
            <a:off x="731520" y="1892808"/>
            <a:ext cx="411480" cy="411480"/>
          </a:xfrm>
          <a:prstGeom prst="ellipse">
            <a:avLst/>
          </a:prstGeom>
          <a:solidFill>
            <a:srgbClr val="1C7293"/>
          </a:solidFill>
          <a:ln/>
        </p:spPr>
        <p:txBody>
          <a:bodyPr/>
          <a:lstStyle/>
          <a:p>
            <a:endParaRPr lang="en-GB"/>
          </a:p>
        </p:txBody>
      </p:sp>
      <p:sp>
        <p:nvSpPr>
          <p:cNvPr id="8" name="Text 6"/>
          <p:cNvSpPr/>
          <p:nvPr/>
        </p:nvSpPr>
        <p:spPr>
          <a:xfrm>
            <a:off x="731520" y="189280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9" name="Text 7"/>
          <p:cNvSpPr/>
          <p:nvPr/>
        </p:nvSpPr>
        <p:spPr>
          <a:xfrm>
            <a:off x="1325880" y="1865376"/>
            <a:ext cx="2743200" cy="274320"/>
          </a:xfrm>
          <a:prstGeom prst="rect">
            <a:avLst/>
          </a:prstGeom>
          <a:noFill/>
          <a:ln/>
        </p:spPr>
        <p:txBody>
          <a:bodyPr wrap="square" lIns="0" tIns="0" rIns="0" bIns="0" rtlCol="0" anchor="ctr"/>
          <a:lstStyle/>
          <a:p>
            <a:pPr marL="0" indent="0" algn="l">
              <a:buNone/>
            </a:pPr>
            <a:r>
              <a:rPr lang="en-US" sz="1500" b="1" dirty="0">
                <a:solidFill>
                  <a:srgbClr val="1A1A2E"/>
                </a:solidFill>
                <a:latin typeface="Trebuchet MS" pitchFamily="34" charset="0"/>
                <a:ea typeface="Trebuchet MS" pitchFamily="34" charset="-122"/>
                <a:cs typeface="Trebuchet MS" pitchFamily="34" charset="-120"/>
              </a:rPr>
              <a:t>Correlation Matrix</a:t>
            </a:r>
            <a:endParaRPr lang="en-US" sz="1500" dirty="0"/>
          </a:p>
        </p:txBody>
      </p:sp>
      <p:sp>
        <p:nvSpPr>
          <p:cNvPr id="10" name="Text 8"/>
          <p:cNvSpPr/>
          <p:nvPr/>
        </p:nvSpPr>
        <p:spPr>
          <a:xfrm>
            <a:off x="1325880" y="2148840"/>
            <a:ext cx="6858000" cy="320040"/>
          </a:xfrm>
          <a:prstGeom prst="rect">
            <a:avLst/>
          </a:prstGeom>
          <a:noFill/>
          <a:ln/>
        </p:spPr>
        <p:txBody>
          <a:bodyPr wrap="square" lIns="0" tIns="0" rIns="0" bIns="0" rtlCol="0" anchor="ctr"/>
          <a:lstStyle/>
          <a:p>
            <a:pPr marL="0" indent="0" algn="l">
              <a:buNone/>
            </a:pPr>
            <a:r>
              <a:rPr lang="en-US" sz="1250" dirty="0">
                <a:solidFill>
                  <a:srgbClr val="334155"/>
                </a:solidFill>
                <a:latin typeface="Calibri" pitchFamily="34" charset="0"/>
                <a:ea typeface="Calibri" pitchFamily="34" charset="-122"/>
                <a:cs typeface="Calibri" pitchFamily="34" charset="-120"/>
              </a:rPr>
              <a:t>Pearson correlation ρᵢⱼ over full period (or rolling window)</a:t>
            </a:r>
            <a:endParaRPr lang="en-US" sz="1250" dirty="0"/>
          </a:p>
        </p:txBody>
      </p:sp>
      <p:sp>
        <p:nvSpPr>
          <p:cNvPr id="11" name="Shape 9"/>
          <p:cNvSpPr/>
          <p:nvPr/>
        </p:nvSpPr>
        <p:spPr>
          <a:xfrm>
            <a:off x="731520" y="2642616"/>
            <a:ext cx="411480" cy="411480"/>
          </a:xfrm>
          <a:prstGeom prst="ellipse">
            <a:avLst/>
          </a:prstGeom>
          <a:solidFill>
            <a:srgbClr val="1C7293"/>
          </a:solidFill>
          <a:ln/>
        </p:spPr>
        <p:txBody>
          <a:bodyPr/>
          <a:lstStyle/>
          <a:p>
            <a:endParaRPr lang="en-GB"/>
          </a:p>
        </p:txBody>
      </p:sp>
      <p:sp>
        <p:nvSpPr>
          <p:cNvPr id="12" name="Text 10"/>
          <p:cNvSpPr/>
          <p:nvPr/>
        </p:nvSpPr>
        <p:spPr>
          <a:xfrm>
            <a:off x="731520" y="264261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3" name="Text 11"/>
          <p:cNvSpPr/>
          <p:nvPr/>
        </p:nvSpPr>
        <p:spPr>
          <a:xfrm>
            <a:off x="1325880" y="2615184"/>
            <a:ext cx="2743200" cy="274320"/>
          </a:xfrm>
          <a:prstGeom prst="rect">
            <a:avLst/>
          </a:prstGeom>
          <a:noFill/>
          <a:ln/>
        </p:spPr>
        <p:txBody>
          <a:bodyPr wrap="square" lIns="0" tIns="0" rIns="0" bIns="0" rtlCol="0" anchor="ctr"/>
          <a:lstStyle/>
          <a:p>
            <a:pPr marL="0" indent="0" algn="l">
              <a:buNone/>
            </a:pPr>
            <a:r>
              <a:rPr lang="en-US" sz="1500" b="1" dirty="0">
                <a:solidFill>
                  <a:srgbClr val="1A1A2E"/>
                </a:solidFill>
                <a:latin typeface="Trebuchet MS" pitchFamily="34" charset="0"/>
                <a:ea typeface="Trebuchet MS" pitchFamily="34" charset="-122"/>
                <a:cs typeface="Trebuchet MS" pitchFamily="34" charset="-120"/>
              </a:rPr>
              <a:t>Distance Transform</a:t>
            </a:r>
            <a:endParaRPr lang="en-US" sz="1500" dirty="0"/>
          </a:p>
        </p:txBody>
      </p:sp>
      <p:sp>
        <p:nvSpPr>
          <p:cNvPr id="14" name="Text 12"/>
          <p:cNvSpPr/>
          <p:nvPr/>
        </p:nvSpPr>
        <p:spPr>
          <a:xfrm>
            <a:off x="1325880" y="2898648"/>
            <a:ext cx="6858000" cy="320040"/>
          </a:xfrm>
          <a:prstGeom prst="rect">
            <a:avLst/>
          </a:prstGeom>
          <a:noFill/>
          <a:ln/>
        </p:spPr>
        <p:txBody>
          <a:bodyPr wrap="square" lIns="0" tIns="0" rIns="0" bIns="0" rtlCol="0" anchor="ctr"/>
          <a:lstStyle/>
          <a:p>
            <a:pPr marL="0" indent="0" algn="l">
              <a:buNone/>
            </a:pPr>
            <a:r>
              <a:rPr lang="en-US" sz="1250" dirty="0">
                <a:solidFill>
                  <a:srgbClr val="334155"/>
                </a:solidFill>
                <a:latin typeface="Calibri" pitchFamily="34" charset="0"/>
                <a:ea typeface="Calibri" pitchFamily="34" charset="-122"/>
                <a:cs typeface="Calibri" pitchFamily="34" charset="-120"/>
              </a:rPr>
              <a:t>dᵢⱼ = √(2(1 − ρᵢⱼ))  maps correlation to metric distance</a:t>
            </a:r>
            <a:endParaRPr lang="en-US" sz="1250" dirty="0"/>
          </a:p>
        </p:txBody>
      </p:sp>
      <p:sp>
        <p:nvSpPr>
          <p:cNvPr id="15" name="Shape 13"/>
          <p:cNvSpPr/>
          <p:nvPr/>
        </p:nvSpPr>
        <p:spPr>
          <a:xfrm>
            <a:off x="731520" y="3392424"/>
            <a:ext cx="411480" cy="411480"/>
          </a:xfrm>
          <a:prstGeom prst="ellipse">
            <a:avLst/>
          </a:prstGeom>
          <a:solidFill>
            <a:srgbClr val="1C7293"/>
          </a:solidFill>
          <a:ln/>
        </p:spPr>
        <p:txBody>
          <a:bodyPr/>
          <a:lstStyle/>
          <a:p>
            <a:endParaRPr lang="en-GB"/>
          </a:p>
        </p:txBody>
      </p:sp>
      <p:sp>
        <p:nvSpPr>
          <p:cNvPr id="16" name="Text 14"/>
          <p:cNvSpPr/>
          <p:nvPr/>
        </p:nvSpPr>
        <p:spPr>
          <a:xfrm>
            <a:off x="731520" y="339242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17" name="Text 15"/>
          <p:cNvSpPr/>
          <p:nvPr/>
        </p:nvSpPr>
        <p:spPr>
          <a:xfrm>
            <a:off x="1325880" y="3364992"/>
            <a:ext cx="2743200" cy="274320"/>
          </a:xfrm>
          <a:prstGeom prst="rect">
            <a:avLst/>
          </a:prstGeom>
          <a:noFill/>
          <a:ln/>
        </p:spPr>
        <p:txBody>
          <a:bodyPr wrap="square" lIns="0" tIns="0" rIns="0" bIns="0" rtlCol="0" anchor="ctr"/>
          <a:lstStyle/>
          <a:p>
            <a:pPr marL="0" indent="0" algn="l">
              <a:buNone/>
            </a:pPr>
            <a:r>
              <a:rPr lang="en-US" sz="1500" b="1" dirty="0">
                <a:solidFill>
                  <a:srgbClr val="1A1A2E"/>
                </a:solidFill>
                <a:latin typeface="Trebuchet MS" pitchFamily="34" charset="0"/>
                <a:ea typeface="Trebuchet MS" pitchFamily="34" charset="-122"/>
                <a:cs typeface="Trebuchet MS" pitchFamily="34" charset="-120"/>
              </a:rPr>
              <a:t>MST Construction</a:t>
            </a:r>
            <a:endParaRPr lang="en-US" sz="1500" dirty="0"/>
          </a:p>
        </p:txBody>
      </p:sp>
      <p:sp>
        <p:nvSpPr>
          <p:cNvPr id="18" name="Text 16"/>
          <p:cNvSpPr/>
          <p:nvPr/>
        </p:nvSpPr>
        <p:spPr>
          <a:xfrm>
            <a:off x="1325880" y="3648456"/>
            <a:ext cx="6858000" cy="320040"/>
          </a:xfrm>
          <a:prstGeom prst="rect">
            <a:avLst/>
          </a:prstGeom>
          <a:noFill/>
          <a:ln/>
        </p:spPr>
        <p:txBody>
          <a:bodyPr wrap="square" lIns="0" tIns="0" rIns="0" bIns="0" rtlCol="0" anchor="ctr"/>
          <a:lstStyle/>
          <a:p>
            <a:pPr marL="0" indent="0" algn="l">
              <a:buNone/>
            </a:pPr>
            <a:r>
              <a:rPr lang="en-US" sz="1250" dirty="0">
                <a:solidFill>
                  <a:srgbClr val="334155"/>
                </a:solidFill>
                <a:latin typeface="Calibri" pitchFamily="34" charset="0"/>
                <a:ea typeface="Calibri" pitchFamily="34" charset="-122"/>
                <a:cs typeface="Calibri" pitchFamily="34" charset="-120"/>
              </a:rPr>
              <a:t>Minimum Spanning Tree connects all nodes with minimum total distance</a:t>
            </a:r>
            <a:endParaRPr lang="en-US" sz="1250" dirty="0"/>
          </a:p>
        </p:txBody>
      </p:sp>
      <p:sp>
        <p:nvSpPr>
          <p:cNvPr id="19" name="Shape 17"/>
          <p:cNvSpPr/>
          <p:nvPr/>
        </p:nvSpPr>
        <p:spPr>
          <a:xfrm>
            <a:off x="731520" y="4142232"/>
            <a:ext cx="411480" cy="411480"/>
          </a:xfrm>
          <a:prstGeom prst="ellipse">
            <a:avLst/>
          </a:prstGeom>
          <a:solidFill>
            <a:srgbClr val="1C7293"/>
          </a:solidFill>
          <a:ln/>
        </p:spPr>
        <p:txBody>
          <a:bodyPr/>
          <a:lstStyle/>
          <a:p>
            <a:endParaRPr lang="en-GB"/>
          </a:p>
        </p:txBody>
      </p:sp>
      <p:sp>
        <p:nvSpPr>
          <p:cNvPr id="20" name="Text 18"/>
          <p:cNvSpPr/>
          <p:nvPr/>
        </p:nvSpPr>
        <p:spPr>
          <a:xfrm>
            <a:off x="731520" y="41422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5</a:t>
            </a:r>
            <a:endParaRPr lang="en-US" sz="1600" dirty="0"/>
          </a:p>
        </p:txBody>
      </p:sp>
      <p:sp>
        <p:nvSpPr>
          <p:cNvPr id="21" name="Text 19"/>
          <p:cNvSpPr/>
          <p:nvPr/>
        </p:nvSpPr>
        <p:spPr>
          <a:xfrm>
            <a:off x="1325880" y="4114800"/>
            <a:ext cx="2743200" cy="274320"/>
          </a:xfrm>
          <a:prstGeom prst="rect">
            <a:avLst/>
          </a:prstGeom>
          <a:noFill/>
          <a:ln/>
        </p:spPr>
        <p:txBody>
          <a:bodyPr wrap="square" lIns="0" tIns="0" rIns="0" bIns="0" rtlCol="0" anchor="ctr"/>
          <a:lstStyle/>
          <a:p>
            <a:pPr marL="0" indent="0" algn="l">
              <a:buNone/>
            </a:pPr>
            <a:r>
              <a:rPr lang="en-US" sz="1500" b="1" dirty="0">
                <a:solidFill>
                  <a:srgbClr val="1A1A2E"/>
                </a:solidFill>
                <a:latin typeface="Trebuchet MS" pitchFamily="34" charset="0"/>
                <a:ea typeface="Trebuchet MS" pitchFamily="34" charset="-122"/>
                <a:cs typeface="Trebuchet MS" pitchFamily="34" charset="-120"/>
              </a:rPr>
              <a:t>Network Analysis</a:t>
            </a:r>
            <a:endParaRPr lang="en-US" sz="1500" dirty="0"/>
          </a:p>
        </p:txBody>
      </p:sp>
      <p:sp>
        <p:nvSpPr>
          <p:cNvPr id="22" name="Text 20"/>
          <p:cNvSpPr/>
          <p:nvPr/>
        </p:nvSpPr>
        <p:spPr>
          <a:xfrm>
            <a:off x="1325880" y="4398264"/>
            <a:ext cx="6858000" cy="320040"/>
          </a:xfrm>
          <a:prstGeom prst="rect">
            <a:avLst/>
          </a:prstGeom>
          <a:noFill/>
          <a:ln/>
        </p:spPr>
        <p:txBody>
          <a:bodyPr wrap="square" lIns="0" tIns="0" rIns="0" bIns="0" rtlCol="0" anchor="ctr"/>
          <a:lstStyle/>
          <a:p>
            <a:pPr marL="0" indent="0" algn="l">
              <a:buNone/>
            </a:pPr>
            <a:r>
              <a:rPr lang="en-US" sz="1250" dirty="0">
                <a:solidFill>
                  <a:srgbClr val="334155"/>
                </a:solidFill>
                <a:latin typeface="Calibri" pitchFamily="34" charset="0"/>
                <a:ea typeface="Calibri" pitchFamily="34" charset="-122"/>
                <a:cs typeface="Calibri" pitchFamily="34" charset="-120"/>
              </a:rPr>
              <a:t>Degree distribution, hub identification, sector clustering</a:t>
            </a:r>
            <a:endParaRPr lang="en-US" sz="1250" dirty="0"/>
          </a:p>
        </p:txBody>
      </p:sp>
      <p:sp>
        <p:nvSpPr>
          <p:cNvPr id="23" name="Text 21"/>
          <p:cNvSpPr/>
          <p:nvPr/>
        </p:nvSpPr>
        <p:spPr>
          <a:xfrm>
            <a:off x="731520" y="4663440"/>
            <a:ext cx="7680960" cy="274320"/>
          </a:xfrm>
          <a:prstGeom prst="rect">
            <a:avLst/>
          </a:prstGeom>
          <a:noFill/>
          <a:ln/>
        </p:spPr>
        <p:txBody>
          <a:bodyPr wrap="square" lIns="0" tIns="0" rIns="0" bIns="0" rtlCol="0" anchor="ctr"/>
          <a:lstStyle/>
          <a:p>
            <a:pPr marL="0" indent="0" algn="l">
              <a:buNone/>
            </a:pPr>
            <a:r>
              <a:rPr lang="en-US" sz="1000" i="1" dirty="0">
                <a:solidFill>
                  <a:srgbClr val="64748B"/>
                </a:solidFill>
                <a:latin typeface="Calibri" pitchFamily="34" charset="0"/>
                <a:ea typeface="Calibri" pitchFamily="34" charset="-122"/>
                <a:cs typeface="Calibri" pitchFamily="34" charset="-120"/>
              </a:rPr>
              <a:t>Ref: Kukreti et al. (2020), Frontiers in Physics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5"/>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lgn="l">
              <a:buNone/>
            </a:pPr>
            <a:r>
              <a:rPr lang="en-US" sz="3200" b="1" dirty="0">
                <a:solidFill>
                  <a:srgbClr val="1A1A2E"/>
                </a:solidFill>
                <a:latin typeface="Trebuchet MS" pitchFamily="34" charset="0"/>
                <a:ea typeface="Trebuchet MS" pitchFamily="34" charset="-122"/>
                <a:cs typeface="Trebuchet MS" pitchFamily="34" charset="-120"/>
              </a:rPr>
              <a:t>Sector Correlation Structure</a:t>
            </a:r>
            <a:endParaRPr lang="en-US" sz="3200" dirty="0"/>
          </a:p>
        </p:txBody>
      </p:sp>
      <p:pic>
        <p:nvPicPr>
          <p:cNvPr id="3" name="Image 0" descr="preencoded.png"/>
          <p:cNvPicPr>
            <a:picLocks noChangeAspect="1"/>
          </p:cNvPicPr>
          <p:nvPr/>
        </p:nvPicPr>
        <p:blipFill>
          <a:blip r:embed="rId3"/>
          <a:stretch>
            <a:fillRect/>
          </a:stretch>
        </p:blipFill>
        <p:spPr>
          <a:xfrm>
            <a:off x="457200" y="1097280"/>
            <a:ext cx="4754880" cy="3657600"/>
          </a:xfrm>
          <a:prstGeom prst="rect">
            <a:avLst/>
          </a:prstGeom>
        </p:spPr>
      </p:pic>
      <p:sp>
        <p:nvSpPr>
          <p:cNvPr id="4" name="Shape 1"/>
          <p:cNvSpPr/>
          <p:nvPr/>
        </p:nvSpPr>
        <p:spPr>
          <a:xfrm>
            <a:off x="5394960" y="1097280"/>
            <a:ext cx="3291840" cy="365760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GB"/>
          </a:p>
        </p:txBody>
      </p:sp>
      <p:sp>
        <p:nvSpPr>
          <p:cNvPr id="5" name="Text 2"/>
          <p:cNvSpPr/>
          <p:nvPr/>
        </p:nvSpPr>
        <p:spPr>
          <a:xfrm>
            <a:off x="5577840" y="1234440"/>
            <a:ext cx="2926080" cy="365760"/>
          </a:xfrm>
          <a:prstGeom prst="rect">
            <a:avLst/>
          </a:prstGeom>
          <a:noFill/>
          <a:ln/>
        </p:spPr>
        <p:txBody>
          <a:bodyPr wrap="square" lIns="0" tIns="0" rIns="0" bIns="0" rtlCol="0" anchor="ctr"/>
          <a:lstStyle/>
          <a:p>
            <a:pPr marL="0" indent="0" algn="l">
              <a:buNone/>
            </a:pPr>
            <a:r>
              <a:rPr lang="en-US" sz="1600" b="1" dirty="0">
                <a:solidFill>
                  <a:srgbClr val="1A1A2E"/>
                </a:solidFill>
                <a:latin typeface="Trebuchet MS" pitchFamily="34" charset="0"/>
                <a:ea typeface="Trebuchet MS" pitchFamily="34" charset="-122"/>
                <a:cs typeface="Trebuchet MS" pitchFamily="34" charset="-120"/>
              </a:rPr>
              <a:t>Key Findings</a:t>
            </a:r>
            <a:endParaRPr lang="en-US" sz="1600" dirty="0"/>
          </a:p>
        </p:txBody>
      </p:sp>
      <p:sp>
        <p:nvSpPr>
          <p:cNvPr id="6" name="Text 3"/>
          <p:cNvSpPr/>
          <p:nvPr/>
        </p:nvSpPr>
        <p:spPr>
          <a:xfrm>
            <a:off x="5577840" y="1691640"/>
            <a:ext cx="2926080" cy="2743200"/>
          </a:xfrm>
          <a:prstGeom prst="rect">
            <a:avLst/>
          </a:prstGeom>
          <a:noFill/>
          <a:ln/>
        </p:spPr>
        <p:txBody>
          <a:bodyPr wrap="square" rtlCol="0" anchor="ctr"/>
          <a:lstStyle/>
          <a:p>
            <a:pPr marL="342900" indent="-342900" algn="l">
              <a:lnSpc>
                <a:spcPct val="130000"/>
              </a:lnSpc>
              <a:buSzPct val="100000"/>
              <a:buChar char="•"/>
            </a:pPr>
            <a:r>
              <a:rPr lang="en-US" sz="1200" dirty="0">
                <a:solidFill>
                  <a:srgbClr val="334155"/>
                </a:solidFill>
                <a:latin typeface="Calibri" pitchFamily="34" charset="0"/>
                <a:ea typeface="Calibri" pitchFamily="34" charset="-122"/>
                <a:cs typeface="Calibri" pitchFamily="34" charset="-120"/>
              </a:rPr>
              <a:t>All sector pairs positively correlated   (ρ &gt; 0.6)</a:t>
            </a:r>
            <a:endParaRPr lang="en-US" sz="1200" dirty="0"/>
          </a:p>
          <a:p>
            <a:pPr marL="342900" indent="-342900" algn="l">
              <a:lnSpc>
                <a:spcPct val="130000"/>
              </a:lnSpc>
              <a:buSzPct val="100000"/>
              <a:buChar char="•"/>
            </a:pPr>
            <a:r>
              <a:rPr lang="en-US" sz="1200" dirty="0">
                <a:solidFill>
                  <a:srgbClr val="334155"/>
                </a:solidFill>
                <a:latin typeface="Calibri" pitchFamily="34" charset="0"/>
                <a:ea typeface="Calibri" pitchFamily="34" charset="-122"/>
                <a:cs typeface="Calibri" pitchFamily="34" charset="-120"/>
              </a:rPr>
              <a:t>Energy (XLE) is the least correlated with other sectors</a:t>
            </a:r>
            <a:endParaRPr lang="en-US" sz="1200" dirty="0"/>
          </a:p>
          <a:p>
            <a:pPr marL="342900" indent="-342900" algn="l">
              <a:lnSpc>
                <a:spcPct val="130000"/>
              </a:lnSpc>
              <a:buSzPct val="100000"/>
              <a:buChar char="•"/>
            </a:pPr>
            <a:r>
              <a:rPr lang="en-US" sz="1200" dirty="0">
                <a:solidFill>
                  <a:srgbClr val="334155"/>
                </a:solidFill>
                <a:latin typeface="Calibri" pitchFamily="34" charset="0"/>
                <a:ea typeface="Calibri" pitchFamily="34" charset="-122"/>
                <a:cs typeface="Calibri" pitchFamily="34" charset="-120"/>
              </a:rPr>
              <a:t>Industrials &amp; Materials show highest cross-correlation</a:t>
            </a:r>
            <a:endParaRPr lang="en-US" sz="1200" dirty="0"/>
          </a:p>
          <a:p>
            <a:pPr marL="342900" indent="-342900" algn="l">
              <a:lnSpc>
                <a:spcPct val="130000"/>
              </a:lnSpc>
              <a:buSzPct val="100000"/>
              <a:buChar char="•"/>
            </a:pPr>
            <a:r>
              <a:rPr lang="en-US" sz="1200" dirty="0">
                <a:solidFill>
                  <a:srgbClr val="334155"/>
                </a:solidFill>
                <a:latin typeface="Calibri" pitchFamily="34" charset="0"/>
                <a:ea typeface="Calibri" pitchFamily="34" charset="-122"/>
                <a:cs typeface="Calibri" pitchFamily="34" charset="-120"/>
              </a:rPr>
              <a:t>High baseline correlation suggests limited diversification at sector level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lgn="l">
              <a:buNone/>
            </a:pPr>
            <a:r>
              <a:rPr lang="en-US" sz="3200" b="1">
                <a:solidFill>
                  <a:srgbClr val="1A1A2E"/>
                </a:solidFill>
                <a:latin typeface="Trebuchet MS" pitchFamily="34" charset="0"/>
                <a:ea typeface="Trebuchet MS" pitchFamily="34" charset="-122"/>
                <a:cs typeface="Trebuchet MS" pitchFamily="34" charset="-120"/>
              </a:rPr>
              <a:t>S&amp;P 500 Minimum Spanning Tree</a:t>
            </a:r>
            <a:endParaRPr lang="en-US" sz="3200" dirty="0"/>
          </a:p>
        </p:txBody>
      </p:sp>
      <p:pic>
        <p:nvPicPr>
          <p:cNvPr id="5" name="Picture 4" descr="A network of colored dots and lines&#10;&#10;AI-generated content may be incorrect.">
            <a:extLst>
              <a:ext uri="{FF2B5EF4-FFF2-40B4-BE49-F238E27FC236}">
                <a16:creationId xmlns:a16="http://schemas.microsoft.com/office/drawing/2014/main" id="{254CBD9F-B448-23AD-3E9B-E09E645F4159}"/>
              </a:ext>
            </a:extLst>
          </p:cNvPr>
          <p:cNvPicPr>
            <a:picLocks noChangeAspect="1"/>
          </p:cNvPicPr>
          <p:nvPr/>
        </p:nvPicPr>
        <p:blipFill>
          <a:blip r:embed="rId3"/>
          <a:srcRect l="6824" b="6868"/>
          <a:stretch>
            <a:fillRect/>
          </a:stretch>
        </p:blipFill>
        <p:spPr>
          <a:xfrm>
            <a:off x="1800990" y="1005840"/>
            <a:ext cx="5542019" cy="41497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5"/>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lgn="l">
              <a:buNone/>
            </a:pPr>
            <a:r>
              <a:rPr lang="en-US" sz="3200" b="1" dirty="0">
                <a:solidFill>
                  <a:srgbClr val="1A1A2E"/>
                </a:solidFill>
                <a:latin typeface="Trebuchet MS" pitchFamily="34" charset="0"/>
                <a:ea typeface="Trebuchet MS" pitchFamily="34" charset="-122"/>
                <a:cs typeface="Trebuchet MS" pitchFamily="34" charset="-120"/>
              </a:rPr>
              <a:t>Hub Stocks &amp; Connectivity</a:t>
            </a:r>
            <a:endParaRPr lang="en-US" sz="3200" dirty="0"/>
          </a:p>
        </p:txBody>
      </p:sp>
      <p:pic>
        <p:nvPicPr>
          <p:cNvPr id="3" name="Image 0" descr="preencoded.png"/>
          <p:cNvPicPr>
            <a:picLocks noChangeAspect="1"/>
          </p:cNvPicPr>
          <p:nvPr/>
        </p:nvPicPr>
        <p:blipFill>
          <a:blip r:embed="rId3"/>
          <a:stretch>
            <a:fillRect/>
          </a:stretch>
        </p:blipFill>
        <p:spPr>
          <a:xfrm>
            <a:off x="274320" y="1051560"/>
            <a:ext cx="4297680" cy="3200400"/>
          </a:xfrm>
          <a:prstGeom prst="rect">
            <a:avLst/>
          </a:prstGeom>
        </p:spPr>
      </p:pic>
      <p:pic>
        <p:nvPicPr>
          <p:cNvPr id="4" name="Image 1" descr="preencoded.png"/>
          <p:cNvPicPr>
            <a:picLocks noChangeAspect="1"/>
          </p:cNvPicPr>
          <p:nvPr/>
        </p:nvPicPr>
        <p:blipFill>
          <a:blip r:embed="rId4"/>
          <a:stretch>
            <a:fillRect/>
          </a:stretch>
        </p:blipFill>
        <p:spPr>
          <a:xfrm>
            <a:off x="4663440" y="1051560"/>
            <a:ext cx="4297680" cy="3200400"/>
          </a:xfrm>
          <a:prstGeom prst="rect">
            <a:avLst/>
          </a:prstGeom>
        </p:spPr>
      </p:pic>
      <p:sp>
        <p:nvSpPr>
          <p:cNvPr id="5" name="Shape 1"/>
          <p:cNvSpPr/>
          <p:nvPr/>
        </p:nvSpPr>
        <p:spPr>
          <a:xfrm>
            <a:off x="457200" y="4343400"/>
            <a:ext cx="8229600" cy="64008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GB"/>
          </a:p>
        </p:txBody>
      </p:sp>
      <p:sp>
        <p:nvSpPr>
          <p:cNvPr id="6" name="Text 2"/>
          <p:cNvSpPr/>
          <p:nvPr/>
        </p:nvSpPr>
        <p:spPr>
          <a:xfrm>
            <a:off x="640080" y="4389120"/>
            <a:ext cx="7863840" cy="548640"/>
          </a:xfrm>
          <a:prstGeom prst="rect">
            <a:avLst/>
          </a:prstGeom>
          <a:noFill/>
          <a:ln/>
        </p:spPr>
        <p:txBody>
          <a:bodyPr wrap="square" lIns="0" tIns="0" rIns="0" bIns="0" rtlCol="0" anchor="ctr"/>
          <a:lstStyle/>
          <a:p>
            <a:pPr marL="0" indent="0" algn="l">
              <a:buNone/>
            </a:pPr>
            <a:r>
              <a:rPr lang="en-US" sz="1200" dirty="0">
                <a:solidFill>
                  <a:srgbClr val="334155"/>
                </a:solidFill>
                <a:latin typeface="Calibri" pitchFamily="34" charset="0"/>
                <a:ea typeface="Calibri" pitchFamily="34" charset="-122"/>
                <a:cs typeface="Calibri" pitchFamily="34" charset="-120"/>
              </a:rPr>
              <a:t>UTL_AEE (deg 16) and MAT_PPG / IND_PH (deg 13) are the main hubs. Heavy-tailed degree distribution → scale-free-like topology.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5"/>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lgn="l">
              <a:buNone/>
            </a:pPr>
            <a:r>
              <a:rPr lang="en-US" sz="3200" b="1" dirty="0">
                <a:solidFill>
                  <a:srgbClr val="1A1A2E"/>
                </a:solidFill>
                <a:latin typeface="Trebuchet MS" pitchFamily="34" charset="0"/>
                <a:ea typeface="Trebuchet MS" pitchFamily="34" charset="-122"/>
                <a:cs typeface="Trebuchet MS" pitchFamily="34" charset="-120"/>
              </a:rPr>
              <a:t>Sector ETF Network</a:t>
            </a:r>
            <a:endParaRPr lang="en-US" sz="3200" dirty="0"/>
          </a:p>
        </p:txBody>
      </p:sp>
      <p:pic>
        <p:nvPicPr>
          <p:cNvPr id="3" name="Image 0" descr="preencoded.png"/>
          <p:cNvPicPr>
            <a:picLocks noChangeAspect="1"/>
          </p:cNvPicPr>
          <p:nvPr/>
        </p:nvPicPr>
        <p:blipFill>
          <a:blip r:embed="rId3"/>
          <a:stretch>
            <a:fillRect/>
          </a:stretch>
        </p:blipFill>
        <p:spPr>
          <a:xfrm>
            <a:off x="457200" y="1005840"/>
            <a:ext cx="4572000" cy="3657600"/>
          </a:xfrm>
          <a:prstGeom prst="rect">
            <a:avLst/>
          </a:prstGeom>
        </p:spPr>
      </p:pic>
      <p:sp>
        <p:nvSpPr>
          <p:cNvPr id="4" name="Shape 1"/>
          <p:cNvSpPr/>
          <p:nvPr/>
        </p:nvSpPr>
        <p:spPr>
          <a:xfrm>
            <a:off x="5303520" y="1005840"/>
            <a:ext cx="3383280" cy="365760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GB"/>
          </a:p>
        </p:txBody>
      </p:sp>
      <p:sp>
        <p:nvSpPr>
          <p:cNvPr id="5" name="Text 2"/>
          <p:cNvSpPr/>
          <p:nvPr/>
        </p:nvSpPr>
        <p:spPr>
          <a:xfrm>
            <a:off x="5486400" y="1143000"/>
            <a:ext cx="3017520" cy="365760"/>
          </a:xfrm>
          <a:prstGeom prst="rect">
            <a:avLst/>
          </a:prstGeom>
          <a:noFill/>
          <a:ln/>
        </p:spPr>
        <p:txBody>
          <a:bodyPr wrap="square" lIns="0" tIns="0" rIns="0" bIns="0" rtlCol="0" anchor="ctr"/>
          <a:lstStyle/>
          <a:p>
            <a:pPr marL="0" indent="0" algn="l">
              <a:buNone/>
            </a:pPr>
            <a:r>
              <a:rPr lang="en-US" sz="1600" b="1" dirty="0">
                <a:solidFill>
                  <a:srgbClr val="1A1A2E"/>
                </a:solidFill>
                <a:latin typeface="Trebuchet MS" pitchFamily="34" charset="0"/>
                <a:ea typeface="Trebuchet MS" pitchFamily="34" charset="-122"/>
                <a:cs typeface="Trebuchet MS" pitchFamily="34" charset="-120"/>
              </a:rPr>
              <a:t>Observations</a:t>
            </a:r>
            <a:endParaRPr lang="en-US" sz="1600" dirty="0"/>
          </a:p>
        </p:txBody>
      </p:sp>
      <p:sp>
        <p:nvSpPr>
          <p:cNvPr id="6" name="Text 3"/>
          <p:cNvSpPr/>
          <p:nvPr/>
        </p:nvSpPr>
        <p:spPr>
          <a:xfrm>
            <a:off x="5486400" y="1600200"/>
            <a:ext cx="3017520" cy="2743200"/>
          </a:xfrm>
          <a:prstGeom prst="rect">
            <a:avLst/>
          </a:prstGeom>
          <a:noFill/>
          <a:ln/>
        </p:spPr>
        <p:txBody>
          <a:bodyPr wrap="square" rtlCol="0" anchor="ctr"/>
          <a:lstStyle/>
          <a:p>
            <a:pPr marL="342900" indent="-342900" algn="l">
              <a:lnSpc>
                <a:spcPct val="130000"/>
              </a:lnSpc>
              <a:buSzPct val="100000"/>
              <a:buChar char="•"/>
            </a:pPr>
            <a:r>
              <a:rPr lang="en-US" sz="1200" dirty="0">
                <a:solidFill>
                  <a:srgbClr val="334155"/>
                </a:solidFill>
                <a:latin typeface="Calibri" pitchFamily="34" charset="0"/>
                <a:ea typeface="Calibri" pitchFamily="34" charset="-122"/>
                <a:cs typeface="Calibri" pitchFamily="34" charset="-120"/>
              </a:rPr>
              <a:t>9 nodes, 8 edges — much simpler structure</a:t>
            </a:r>
            <a:endParaRPr lang="en-US" sz="1200" dirty="0"/>
          </a:p>
          <a:p>
            <a:pPr marL="342900" indent="-342900" algn="l">
              <a:lnSpc>
                <a:spcPct val="130000"/>
              </a:lnSpc>
              <a:buSzPct val="100000"/>
              <a:buChar char="•"/>
            </a:pPr>
            <a:r>
              <a:rPr lang="en-US" sz="1200" dirty="0">
                <a:solidFill>
                  <a:srgbClr val="334155"/>
                </a:solidFill>
                <a:latin typeface="Calibri" pitchFamily="34" charset="0"/>
                <a:ea typeface="Calibri" pitchFamily="34" charset="-122"/>
                <a:cs typeface="Calibri" pitchFamily="34" charset="-120"/>
              </a:rPr>
              <a:t>XLI (Industrials) acts as central hub</a:t>
            </a:r>
            <a:endParaRPr lang="en-US" sz="1200" dirty="0"/>
          </a:p>
          <a:p>
            <a:pPr marL="342900" indent="-342900" algn="l">
              <a:lnSpc>
                <a:spcPct val="130000"/>
              </a:lnSpc>
              <a:buSzPct val="100000"/>
              <a:buChar char="•"/>
            </a:pPr>
            <a:r>
              <a:rPr lang="en-US" sz="1200" dirty="0">
                <a:solidFill>
                  <a:srgbClr val="334155"/>
                </a:solidFill>
                <a:latin typeface="Calibri" pitchFamily="34" charset="0"/>
                <a:ea typeface="Calibri" pitchFamily="34" charset="-122"/>
                <a:cs typeface="Calibri" pitchFamily="34" charset="-120"/>
              </a:rPr>
              <a:t>XLE (Energy) is peripheral — least connected</a:t>
            </a:r>
            <a:endParaRPr lang="en-US" sz="1200" dirty="0"/>
          </a:p>
          <a:p>
            <a:pPr marL="342900" indent="-342900" algn="l">
              <a:lnSpc>
                <a:spcPct val="130000"/>
              </a:lnSpc>
              <a:buSzPct val="100000"/>
              <a:buChar char="•"/>
            </a:pPr>
            <a:r>
              <a:rPr lang="en-US" sz="1200" dirty="0">
                <a:solidFill>
                  <a:srgbClr val="334155"/>
                </a:solidFill>
                <a:latin typeface="Calibri" pitchFamily="34" charset="0"/>
                <a:ea typeface="Calibri" pitchFamily="34" charset="-122"/>
                <a:cs typeface="Calibri" pitchFamily="34" charset="-120"/>
              </a:rPr>
              <a:t>At sector level, individual stock heterogeneity is averaged away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6616" y="192024"/>
            <a:ext cx="8065008" cy="308610"/>
          </a:xfrm>
          <a:prstGeom prst="rect">
            <a:avLst/>
          </a:prstGeom>
          <a:noFill/>
          <a:ln/>
        </p:spPr>
        <p:txBody>
          <a:bodyPr wrap="square" lIns="0" tIns="0" rIns="0" bIns="0" rtlCol="0" anchor="ctr"/>
          <a:lstStyle/>
          <a:p>
            <a:r>
              <a:rPr lang="en-US" b="1" dirty="0">
                <a:solidFill>
                  <a:srgbClr val="1A1F3A"/>
                </a:solidFill>
                <a:latin typeface="Aptos" pitchFamily="34" charset="0"/>
                <a:ea typeface="Aptos" pitchFamily="34" charset="-122"/>
                <a:cs typeface="Aptos" pitchFamily="34" charset="-120"/>
              </a:rPr>
              <a:t>Sector Shock Propagation During COVID-19</a:t>
            </a:r>
            <a:endParaRPr lang="en-US" dirty="0"/>
          </a:p>
        </p:txBody>
      </p:sp>
      <p:sp>
        <p:nvSpPr>
          <p:cNvPr id="3" name="Shape 1"/>
          <p:cNvSpPr/>
          <p:nvPr/>
        </p:nvSpPr>
        <p:spPr>
          <a:xfrm>
            <a:off x="356616" y="576072"/>
            <a:ext cx="8023860" cy="0"/>
          </a:xfrm>
          <a:prstGeom prst="line">
            <a:avLst/>
          </a:prstGeom>
          <a:noFill/>
          <a:ln w="19050">
            <a:solidFill>
              <a:srgbClr val="1D90A7"/>
            </a:solidFill>
            <a:prstDash val="solid"/>
          </a:ln>
        </p:spPr>
        <p:txBody>
          <a:bodyPr/>
          <a:lstStyle/>
          <a:p>
            <a:endParaRPr lang="en-GB" sz="1350"/>
          </a:p>
        </p:txBody>
      </p:sp>
      <p:sp>
        <p:nvSpPr>
          <p:cNvPr id="4" name="Shape 2"/>
          <p:cNvSpPr/>
          <p:nvPr/>
        </p:nvSpPr>
        <p:spPr>
          <a:xfrm>
            <a:off x="425196" y="788670"/>
            <a:ext cx="5897880" cy="3895344"/>
          </a:xfrm>
          <a:prstGeom prst="rect">
            <a:avLst/>
          </a:prstGeom>
          <a:solidFill>
            <a:srgbClr val="FFFFFF"/>
          </a:solidFill>
          <a:ln w="12700">
            <a:solidFill>
              <a:srgbClr val="D6DADF"/>
            </a:solidFill>
            <a:prstDash val="solid"/>
          </a:ln>
        </p:spPr>
        <p:txBody>
          <a:bodyPr/>
          <a:lstStyle/>
          <a:p>
            <a:endParaRPr lang="en-GB" sz="1350"/>
          </a:p>
        </p:txBody>
      </p:sp>
      <p:sp>
        <p:nvSpPr>
          <p:cNvPr id="7" name="Shape 4"/>
          <p:cNvSpPr/>
          <p:nvPr/>
        </p:nvSpPr>
        <p:spPr>
          <a:xfrm>
            <a:off x="6515100" y="788670"/>
            <a:ext cx="2180844" cy="3895344"/>
          </a:xfrm>
          <a:prstGeom prst="rect">
            <a:avLst/>
          </a:prstGeom>
          <a:solidFill>
            <a:srgbClr val="FFFFFF"/>
          </a:solidFill>
          <a:ln w="12700">
            <a:solidFill>
              <a:srgbClr val="D6DADF"/>
            </a:solidFill>
            <a:prstDash val="solid"/>
          </a:ln>
        </p:spPr>
        <p:txBody>
          <a:bodyPr/>
          <a:lstStyle/>
          <a:p>
            <a:endParaRPr lang="en-GB" sz="1350"/>
          </a:p>
        </p:txBody>
      </p:sp>
      <p:sp>
        <p:nvSpPr>
          <p:cNvPr id="8" name="Text 5"/>
          <p:cNvSpPr/>
          <p:nvPr/>
        </p:nvSpPr>
        <p:spPr>
          <a:xfrm>
            <a:off x="6707124" y="973836"/>
            <a:ext cx="1508760" cy="205740"/>
          </a:xfrm>
          <a:prstGeom prst="rect">
            <a:avLst/>
          </a:prstGeom>
          <a:noFill/>
          <a:ln/>
        </p:spPr>
        <p:txBody>
          <a:bodyPr wrap="square" lIns="0" tIns="0" rIns="0" bIns="0" rtlCol="0" anchor="ctr"/>
          <a:lstStyle/>
          <a:p>
            <a:r>
              <a:rPr lang="en-US" sz="1350" b="1" dirty="0">
                <a:solidFill>
                  <a:srgbClr val="1A1F3A"/>
                </a:solidFill>
                <a:latin typeface="Aptos" pitchFamily="34" charset="0"/>
                <a:ea typeface="Aptos" pitchFamily="34" charset="-122"/>
                <a:cs typeface="Aptos" pitchFamily="34" charset="-120"/>
              </a:rPr>
              <a:t>Key idea</a:t>
            </a:r>
            <a:endParaRPr lang="en-US" sz="1350" dirty="0"/>
          </a:p>
        </p:txBody>
      </p:sp>
      <p:sp>
        <p:nvSpPr>
          <p:cNvPr id="9" name="Text 6"/>
          <p:cNvSpPr/>
          <p:nvPr/>
        </p:nvSpPr>
        <p:spPr>
          <a:xfrm>
            <a:off x="6693408" y="1303020"/>
            <a:ext cx="1714500" cy="2434590"/>
          </a:xfrm>
          <a:prstGeom prst="rect">
            <a:avLst/>
          </a:prstGeom>
          <a:noFill/>
          <a:ln/>
        </p:spPr>
        <p:txBody>
          <a:bodyPr wrap="square" lIns="191" tIns="191" rIns="191" bIns="191" rtlCol="0" anchor="t"/>
          <a:lstStyle/>
          <a:p>
            <a:pPr marL="133350" indent="-133350">
              <a:buSzPct val="100000"/>
              <a:buFontTx/>
              <a:buChar char="•"/>
            </a:pPr>
            <a:r>
              <a:rPr lang="en-US" sz="1185" dirty="0">
                <a:solidFill>
                  <a:srgbClr val="28324B"/>
                </a:solidFill>
                <a:latin typeface="Aptos" pitchFamily="34" charset="0"/>
                <a:ea typeface="Aptos" pitchFamily="34" charset="-122"/>
                <a:cs typeface="Aptos" pitchFamily="34" charset="-120"/>
              </a:rPr>
              <a:t>This is a statistical spillover map</a:t>
            </a:r>
          </a:p>
          <a:p>
            <a:pPr marL="133350" indent="-133350">
              <a:buSzPct val="100000"/>
              <a:buChar char="•"/>
            </a:pPr>
            <a:endParaRPr lang="en-US" sz="1185" dirty="0">
              <a:solidFill>
                <a:srgbClr val="28324B"/>
              </a:solidFill>
              <a:latin typeface="Aptos" pitchFamily="34" charset="0"/>
              <a:ea typeface="Aptos" pitchFamily="34" charset="-122"/>
              <a:cs typeface="Aptos" pitchFamily="34" charset="-120"/>
            </a:endParaRPr>
          </a:p>
          <a:p>
            <a:pPr marL="133350" indent="-133350">
              <a:buSzPct val="100000"/>
              <a:buChar char="•"/>
            </a:pPr>
            <a:r>
              <a:rPr lang="en-US" sz="1185" dirty="0">
                <a:solidFill>
                  <a:srgbClr val="28324B"/>
                </a:solidFill>
                <a:latin typeface="Aptos" pitchFamily="34" charset="0"/>
                <a:ea typeface="Aptos" pitchFamily="34" charset="-122"/>
                <a:cs typeface="Aptos" pitchFamily="34" charset="-120"/>
              </a:rPr>
              <a:t>Directed edges show 1-day lead–lag links during the Feb–May 2020 crisis</a:t>
            </a:r>
          </a:p>
          <a:p>
            <a:pPr marL="133350" indent="-133350">
              <a:buSzPct val="100000"/>
              <a:buChar char="•"/>
            </a:pPr>
            <a:endParaRPr lang="en-US" sz="1185" dirty="0">
              <a:solidFill>
                <a:srgbClr val="28324B"/>
              </a:solidFill>
              <a:latin typeface="Aptos" pitchFamily="34" charset="0"/>
              <a:ea typeface="Aptos" pitchFamily="34" charset="-122"/>
              <a:cs typeface="Aptos" pitchFamily="34" charset="-120"/>
            </a:endParaRPr>
          </a:p>
          <a:p>
            <a:pPr marL="133350" indent="-133350">
              <a:buSzPct val="100000"/>
              <a:buChar char="•"/>
            </a:pPr>
            <a:r>
              <a:rPr lang="en-US" sz="1185" dirty="0">
                <a:solidFill>
                  <a:srgbClr val="28324B"/>
                </a:solidFill>
                <a:latin typeface="Aptos" pitchFamily="34" charset="0"/>
                <a:ea typeface="Aptos" pitchFamily="34" charset="-122"/>
                <a:cs typeface="Aptos" pitchFamily="34" charset="-120"/>
              </a:rPr>
              <a:t>Darker nodes indicate sectors with greater propagated exposure</a:t>
            </a:r>
          </a:p>
          <a:p>
            <a:pPr marL="133350" indent="-133350">
              <a:buSzPct val="100000"/>
              <a:buChar char="•"/>
            </a:pPr>
            <a:endParaRPr lang="en-US" sz="1185" dirty="0">
              <a:solidFill>
                <a:srgbClr val="28324B"/>
              </a:solidFill>
              <a:latin typeface="Aptos" pitchFamily="34" charset="0"/>
              <a:ea typeface="Aptos" pitchFamily="34" charset="-122"/>
              <a:cs typeface="Aptos" pitchFamily="34" charset="-120"/>
            </a:endParaRPr>
          </a:p>
        </p:txBody>
      </p:sp>
      <p:sp>
        <p:nvSpPr>
          <p:cNvPr id="10" name="Shape 7"/>
          <p:cNvSpPr/>
          <p:nvPr/>
        </p:nvSpPr>
        <p:spPr>
          <a:xfrm>
            <a:off x="6707124" y="3665597"/>
            <a:ext cx="1577340" cy="0"/>
          </a:xfrm>
          <a:prstGeom prst="line">
            <a:avLst/>
          </a:prstGeom>
          <a:noFill/>
          <a:ln w="12700">
            <a:solidFill>
              <a:srgbClr val="1D90A7"/>
            </a:solidFill>
            <a:prstDash val="solid"/>
          </a:ln>
        </p:spPr>
        <p:txBody>
          <a:bodyPr/>
          <a:lstStyle/>
          <a:p>
            <a:endParaRPr lang="en-GB" sz="1350"/>
          </a:p>
        </p:txBody>
      </p:sp>
      <p:pic>
        <p:nvPicPr>
          <p:cNvPr id="13" name="Picture 12" descr="A diagram of a structure&#10;&#10;AI-generated content may be incorrect.">
            <a:extLst>
              <a:ext uri="{FF2B5EF4-FFF2-40B4-BE49-F238E27FC236}">
                <a16:creationId xmlns:a16="http://schemas.microsoft.com/office/drawing/2014/main" id="{9BAF0AB5-A22F-9D9A-98BE-249AA6C6F117}"/>
              </a:ext>
            </a:extLst>
          </p:cNvPr>
          <p:cNvPicPr>
            <a:picLocks noChangeAspect="1"/>
          </p:cNvPicPr>
          <p:nvPr/>
        </p:nvPicPr>
        <p:blipFill>
          <a:blip r:embed="rId3"/>
          <a:stretch>
            <a:fillRect/>
          </a:stretch>
        </p:blipFill>
        <p:spPr>
          <a:xfrm>
            <a:off x="859536" y="882652"/>
            <a:ext cx="4917626" cy="36847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2F5"/>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lgn="l">
              <a:buNone/>
            </a:pPr>
            <a:r>
              <a:rPr lang="en-US" sz="3200" b="1" dirty="0">
                <a:solidFill>
                  <a:srgbClr val="1A1A2E"/>
                </a:solidFill>
                <a:latin typeface="Trebuchet MS" pitchFamily="34" charset="0"/>
                <a:ea typeface="Trebuchet MS" pitchFamily="34" charset="-122"/>
                <a:cs typeface="Trebuchet MS" pitchFamily="34" charset="-120"/>
              </a:rPr>
              <a:t>Correlation Dynamics Over Time</a:t>
            </a:r>
            <a:endParaRPr lang="en-US" sz="3200" dirty="0"/>
          </a:p>
        </p:txBody>
      </p:sp>
      <p:sp>
        <p:nvSpPr>
          <p:cNvPr id="4" name="Text 1"/>
          <p:cNvSpPr/>
          <p:nvPr/>
        </p:nvSpPr>
        <p:spPr>
          <a:xfrm>
            <a:off x="731520" y="4617720"/>
            <a:ext cx="7680960" cy="320040"/>
          </a:xfrm>
          <a:prstGeom prst="rect">
            <a:avLst/>
          </a:prstGeom>
          <a:noFill/>
          <a:ln/>
        </p:spPr>
        <p:txBody>
          <a:bodyPr wrap="square" lIns="0" tIns="0" rIns="0" bIns="0" rtlCol="0" anchor="ctr"/>
          <a:lstStyle/>
          <a:p>
            <a:pPr marL="0" indent="0" algn="l">
              <a:buNone/>
            </a:pPr>
            <a:r>
              <a:rPr lang="en-US" sz="1050" i="1" dirty="0">
                <a:solidFill>
                  <a:srgbClr val="64748B"/>
                </a:solidFill>
                <a:latin typeface="Calibri" pitchFamily="34" charset="0"/>
                <a:ea typeface="Calibri" pitchFamily="34" charset="-122"/>
                <a:cs typeface="Calibri" pitchFamily="34" charset="-120"/>
              </a:rPr>
              <a:t>Rolling average off-diagonal correlation (epoch=40 days, shift=20 days). Spikes during GFC (2008), COVID (2020).</a:t>
            </a:r>
            <a:endParaRPr lang="en-US" sz="1050" dirty="0"/>
          </a:p>
        </p:txBody>
      </p:sp>
      <p:pic>
        <p:nvPicPr>
          <p:cNvPr id="6" name="Picture 5" descr="A graph showing a graph&#10;&#10;AI-generated content may be incorrect.">
            <a:extLst>
              <a:ext uri="{FF2B5EF4-FFF2-40B4-BE49-F238E27FC236}">
                <a16:creationId xmlns:a16="http://schemas.microsoft.com/office/drawing/2014/main" id="{665BA133-43F8-87AC-3F2C-1F44458CD8E4}"/>
              </a:ext>
            </a:extLst>
          </p:cNvPr>
          <p:cNvPicPr>
            <a:picLocks noChangeAspect="1"/>
          </p:cNvPicPr>
          <p:nvPr/>
        </p:nvPicPr>
        <p:blipFill>
          <a:blip r:embed="rId3"/>
          <a:stretch>
            <a:fillRect/>
          </a:stretch>
        </p:blipFill>
        <p:spPr>
          <a:xfrm>
            <a:off x="349797" y="1161957"/>
            <a:ext cx="8444406" cy="33208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0F2F5"/>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lgn="l">
              <a:buNone/>
            </a:pPr>
            <a:r>
              <a:rPr lang="en-US" sz="3200" b="1" dirty="0">
                <a:solidFill>
                  <a:srgbClr val="1A1A2E"/>
                </a:solidFill>
                <a:latin typeface="Trebuchet MS" pitchFamily="34" charset="0"/>
                <a:ea typeface="Trebuchet MS" pitchFamily="34" charset="-122"/>
                <a:cs typeface="Trebuchet MS" pitchFamily="34" charset="-120"/>
              </a:rPr>
              <a:t>Sector vs Stock: Key Differences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3200400"/>
        </p:xfrm>
        <a:graphic>
          <a:graphicData uri="http://schemas.openxmlformats.org/drawingml/2006/table">
            <a:tbl>
              <a:tblPr/>
              <a:tblGrid>
                <a:gridCol w="18288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57200">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Dimension</a:t>
                      </a:r>
                      <a:endParaRPr lang="en-US" sz="13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Sector ETFs</a:t>
                      </a:r>
                      <a:endParaRPr lang="en-US" sz="13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S&amp;P 500 Stocks</a:t>
                      </a:r>
                      <a:endParaRPr lang="en-US" sz="1300" dirty="0">
                        <a:latin typeface="Trebuchet MS" charset="0"/>
                        <a:ea typeface="Trebuchet MS" charset="0"/>
                        <a:cs typeface="Trebuchet MS"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Nodes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9 – 11</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343</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MST Edges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8 – 10</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342</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457200">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Avg Correlation</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~0.75 – 0.85</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~0.25 – 0.45</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Hub Structure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XLI central</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UTL_AEE, MAT_PPG, IND_PH</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457200">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Clustering</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Not meaningful (too few nodes)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Clear sector clustering visible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Crisis Response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High, uniform spike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334155"/>
                          </a:solidFill>
                          <a:latin typeface="Calibri" pitchFamily="34" charset="0"/>
                          <a:ea typeface="Calibri" pitchFamily="34" charset="-122"/>
                          <a:cs typeface="Calibri" pitchFamily="34" charset="-120"/>
                        </a:rPr>
                        <a:t>Variable by stock/sector</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5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C7293"/>
          </a:solidFill>
          <a:ln/>
        </p:spPr>
        <p:txBody>
          <a:bodyPr/>
          <a:lstStyle/>
          <a:p>
            <a:endParaRPr lang="en-GB"/>
          </a:p>
        </p:txBody>
      </p:sp>
      <p:sp>
        <p:nvSpPr>
          <p:cNvPr id="3" name="Text 1"/>
          <p:cNvSpPr/>
          <p:nvPr/>
        </p:nvSpPr>
        <p:spPr>
          <a:xfrm>
            <a:off x="731520" y="457200"/>
            <a:ext cx="7680960" cy="640080"/>
          </a:xfrm>
          <a:prstGeom prst="rect">
            <a:avLst/>
          </a:prstGeom>
          <a:noFill/>
          <a:ln/>
        </p:spPr>
        <p:txBody>
          <a:bodyPr wrap="square" lIns="0" tIns="0" rIns="0" bIns="0" rtlCol="0" anchor="ctr"/>
          <a:lstStyle/>
          <a:p>
            <a:pPr marL="0" indent="0" algn="l">
              <a:buNone/>
            </a:pPr>
            <a:r>
              <a:rPr lang="en-US" sz="3200" b="1" dirty="0">
                <a:solidFill>
                  <a:srgbClr val="FFFFFF"/>
                </a:solidFill>
                <a:latin typeface="Trebuchet MS" pitchFamily="34" charset="0"/>
                <a:ea typeface="Trebuchet MS" pitchFamily="34" charset="-122"/>
                <a:cs typeface="Trebuchet MS" pitchFamily="34" charset="-120"/>
              </a:rPr>
              <a:t>Conclusions &amp; Future Work</a:t>
            </a:r>
            <a:endParaRPr lang="en-US" sz="3200" dirty="0"/>
          </a:p>
        </p:txBody>
      </p:sp>
      <p:sp>
        <p:nvSpPr>
          <p:cNvPr id="4" name="Text 2"/>
          <p:cNvSpPr/>
          <p:nvPr/>
        </p:nvSpPr>
        <p:spPr>
          <a:xfrm>
            <a:off x="731520" y="1234440"/>
            <a:ext cx="7680960" cy="365760"/>
          </a:xfrm>
          <a:prstGeom prst="rect">
            <a:avLst/>
          </a:prstGeom>
          <a:noFill/>
          <a:ln/>
        </p:spPr>
        <p:txBody>
          <a:bodyPr wrap="square" lIns="0" tIns="0" rIns="0" bIns="0" rtlCol="0" anchor="ctr"/>
          <a:lstStyle/>
          <a:p>
            <a:pPr marL="0" indent="0" algn="l">
              <a:buNone/>
            </a:pPr>
            <a:r>
              <a:rPr lang="en-US" sz="1800" b="1" dirty="0">
                <a:solidFill>
                  <a:srgbClr val="CADCFC"/>
                </a:solidFill>
                <a:latin typeface="Trebuchet MS" pitchFamily="34" charset="0"/>
                <a:ea typeface="Trebuchet MS" pitchFamily="34" charset="-122"/>
                <a:cs typeface="Trebuchet MS" pitchFamily="34" charset="-120"/>
              </a:rPr>
              <a:t>Key Conclusions</a:t>
            </a:r>
            <a:endParaRPr lang="en-US" sz="1800" dirty="0"/>
          </a:p>
        </p:txBody>
      </p:sp>
      <p:sp>
        <p:nvSpPr>
          <p:cNvPr id="5" name="Text 3"/>
          <p:cNvSpPr/>
          <p:nvPr/>
        </p:nvSpPr>
        <p:spPr>
          <a:xfrm>
            <a:off x="731520" y="1188720"/>
            <a:ext cx="7680960" cy="1828800"/>
          </a:xfrm>
          <a:prstGeom prst="rect">
            <a:avLst/>
          </a:prstGeom>
          <a:noFill/>
          <a:ln/>
        </p:spPr>
        <p:txBody>
          <a:bodyPr wrap="square" rtlCol="0" anchor="ctr"/>
          <a:lstStyle/>
          <a:p>
            <a:pPr marL="342900" indent="-342900" algn="l">
              <a:lnSpc>
                <a:spcPct val="130000"/>
              </a:lnSpc>
              <a:buSzPct val="100000"/>
              <a:buChar char="•"/>
            </a:pPr>
            <a:r>
              <a:rPr lang="en-US" sz="1300" dirty="0">
                <a:solidFill>
                  <a:srgbClr val="E2E8F0"/>
                </a:solidFill>
                <a:latin typeface="Calibri" pitchFamily="34" charset="0"/>
                <a:ea typeface="Calibri" pitchFamily="34" charset="-122"/>
                <a:cs typeface="Calibri" pitchFamily="34" charset="-120"/>
              </a:rPr>
              <a:t>Stock-level networks reveal rich structure (hubs, sector clusters) invisible at sector level</a:t>
            </a:r>
            <a:endParaRPr lang="en-US" sz="1300" dirty="0"/>
          </a:p>
          <a:p>
            <a:pPr marL="342900" indent="-342900" algn="l">
              <a:lnSpc>
                <a:spcPct val="130000"/>
              </a:lnSpc>
              <a:buSzPct val="100000"/>
              <a:buChar char="•"/>
            </a:pPr>
            <a:r>
              <a:rPr lang="en-US" sz="1300" dirty="0">
                <a:solidFill>
                  <a:srgbClr val="E2E8F0"/>
                </a:solidFill>
                <a:latin typeface="Calibri" pitchFamily="34" charset="0"/>
                <a:ea typeface="Calibri" pitchFamily="34" charset="-122"/>
                <a:cs typeface="Calibri" pitchFamily="34" charset="-120"/>
              </a:rPr>
              <a:t>MST topology is scale-free-like: a few hub stocks connect the entire market</a:t>
            </a:r>
            <a:endParaRPr lang="en-US" sz="1300" dirty="0"/>
          </a:p>
          <a:p>
            <a:pPr marL="342900" indent="-342900" algn="l">
              <a:lnSpc>
                <a:spcPct val="130000"/>
              </a:lnSpc>
              <a:buSzPct val="100000"/>
              <a:buChar char="•"/>
            </a:pPr>
            <a:r>
              <a:rPr lang="en-US" sz="1300" dirty="0">
                <a:solidFill>
                  <a:srgbClr val="E2E8F0"/>
                </a:solidFill>
                <a:latin typeface="Calibri" pitchFamily="34" charset="0"/>
                <a:ea typeface="Calibri" pitchFamily="34" charset="-122"/>
                <a:cs typeface="Calibri" pitchFamily="34" charset="-120"/>
              </a:rPr>
              <a:t>Correlations spike uniformly during crises, reducing diversification benefits</a:t>
            </a:r>
            <a:endParaRPr lang="en-US" sz="1300" dirty="0"/>
          </a:p>
          <a:p>
            <a:pPr marL="342900" indent="-342900" algn="l">
              <a:lnSpc>
                <a:spcPct val="130000"/>
              </a:lnSpc>
              <a:buSzPct val="100000"/>
              <a:buChar char="•"/>
            </a:pPr>
            <a:r>
              <a:rPr lang="en-US" sz="1300" dirty="0">
                <a:solidFill>
                  <a:srgbClr val="E2E8F0"/>
                </a:solidFill>
                <a:latin typeface="Calibri" pitchFamily="34" charset="0"/>
                <a:ea typeface="Calibri" pitchFamily="34" charset="-122"/>
                <a:cs typeface="Calibri" pitchFamily="34" charset="-120"/>
              </a:rPr>
              <a:t>Sector ETFs average out within-sector heterogeneity, losing actionable detail</a:t>
            </a:r>
            <a:endParaRPr lang="en-US" sz="1300" dirty="0"/>
          </a:p>
        </p:txBody>
      </p:sp>
      <p:sp>
        <p:nvSpPr>
          <p:cNvPr id="6" name="Text 4"/>
          <p:cNvSpPr/>
          <p:nvPr/>
        </p:nvSpPr>
        <p:spPr>
          <a:xfrm>
            <a:off x="731520" y="3520440"/>
            <a:ext cx="7680960" cy="365760"/>
          </a:xfrm>
          <a:prstGeom prst="rect">
            <a:avLst/>
          </a:prstGeom>
          <a:noFill/>
          <a:ln/>
        </p:spPr>
        <p:txBody>
          <a:bodyPr wrap="square" lIns="0" tIns="0" rIns="0" bIns="0" rtlCol="0" anchor="ctr"/>
          <a:lstStyle/>
          <a:p>
            <a:pPr marL="0" indent="0" algn="l">
              <a:buNone/>
            </a:pPr>
            <a:r>
              <a:rPr lang="en-US" sz="1800" b="1" dirty="0">
                <a:solidFill>
                  <a:srgbClr val="CADCFC"/>
                </a:solidFill>
                <a:latin typeface="Trebuchet MS" pitchFamily="34" charset="0"/>
                <a:ea typeface="Trebuchet MS" pitchFamily="34" charset="-122"/>
                <a:cs typeface="Trebuchet MS" pitchFamily="34" charset="-120"/>
              </a:rPr>
              <a:t>Future Directions</a:t>
            </a:r>
            <a:endParaRPr lang="en-US" sz="1800" dirty="0"/>
          </a:p>
        </p:txBody>
      </p:sp>
      <p:sp>
        <p:nvSpPr>
          <p:cNvPr id="7" name="Text 5"/>
          <p:cNvSpPr/>
          <p:nvPr/>
        </p:nvSpPr>
        <p:spPr>
          <a:xfrm>
            <a:off x="731520" y="3703320"/>
            <a:ext cx="7680960" cy="1005840"/>
          </a:xfrm>
          <a:prstGeom prst="rect">
            <a:avLst/>
          </a:prstGeom>
          <a:noFill/>
          <a:ln/>
        </p:spPr>
        <p:txBody>
          <a:bodyPr wrap="square" rtlCol="0" anchor="ctr"/>
          <a:lstStyle/>
          <a:p>
            <a:pPr marL="342900" indent="-342900" algn="l">
              <a:lnSpc>
                <a:spcPct val="125000"/>
              </a:lnSpc>
              <a:buSzPct val="100000"/>
              <a:buChar char="•"/>
            </a:pPr>
            <a:r>
              <a:rPr lang="en-US" sz="1200" dirty="0">
                <a:solidFill>
                  <a:srgbClr val="94A3B8"/>
                </a:solidFill>
                <a:latin typeface="Calibri" pitchFamily="34" charset="0"/>
                <a:ea typeface="Calibri" pitchFamily="34" charset="-122"/>
                <a:cs typeface="Calibri" pitchFamily="34" charset="-120"/>
              </a:rPr>
              <a:t>Threshold networks and PMFG for denser graph comparisons</a:t>
            </a:r>
            <a:endParaRPr lang="en-US" sz="1200" dirty="0"/>
          </a:p>
          <a:p>
            <a:pPr marL="342900" indent="-342900" algn="l">
              <a:lnSpc>
                <a:spcPct val="125000"/>
              </a:lnSpc>
              <a:buSzPct val="100000"/>
              <a:buChar char="•"/>
            </a:pPr>
            <a:r>
              <a:rPr lang="en-US" sz="1200" dirty="0">
                <a:solidFill>
                  <a:srgbClr val="94A3B8"/>
                </a:solidFill>
                <a:latin typeface="Calibri" pitchFamily="34" charset="0"/>
                <a:ea typeface="Calibri" pitchFamily="34" charset="-122"/>
                <a:cs typeface="Calibri" pitchFamily="34" charset="-120"/>
              </a:rPr>
              <a:t>Regime detection via correlation breakpoints</a:t>
            </a:r>
            <a:endParaRPr lang="en-US" sz="1200" dirty="0"/>
          </a:p>
          <a:p>
            <a:pPr marL="342900" indent="-342900" algn="l">
              <a:lnSpc>
                <a:spcPct val="125000"/>
              </a:lnSpc>
              <a:buSzPct val="100000"/>
              <a:buChar char="•"/>
            </a:pPr>
            <a:r>
              <a:rPr lang="en-US" sz="1200" dirty="0">
                <a:solidFill>
                  <a:srgbClr val="94A3B8"/>
                </a:solidFill>
                <a:latin typeface="Calibri" pitchFamily="34" charset="0"/>
                <a:ea typeface="Calibri" pitchFamily="34" charset="-122"/>
                <a:cs typeface="Calibri" pitchFamily="34" charset="-120"/>
              </a:rPr>
              <a:t>Calibrated contagion models beyond simple lead–lag spillovers</a:t>
            </a:r>
            <a:endParaRPr lang="en-US" sz="1200" dirty="0"/>
          </a:p>
        </p:txBody>
      </p:sp>
      <p:sp>
        <p:nvSpPr>
          <p:cNvPr id="8" name="Shape 6"/>
          <p:cNvSpPr/>
          <p:nvPr/>
        </p:nvSpPr>
        <p:spPr>
          <a:xfrm>
            <a:off x="0" y="4892040"/>
            <a:ext cx="9144000" cy="256032"/>
          </a:xfrm>
          <a:prstGeom prst="rect">
            <a:avLst/>
          </a:prstGeom>
          <a:solidFill>
            <a:srgbClr val="1C7293"/>
          </a:solidFill>
          <a:ln/>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1487</Words>
  <Application>Microsoft Macintosh PowerPoint</Application>
  <PresentationFormat>On-screen Show (16:9)</PresentationFormat>
  <Paragraphs>127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Correlation-Based Financial Networks</dc:title>
  <dc:subject>PptxGenJS Presentation</dc:subject>
  <dc:creator>Group Project</dc:creator>
  <cp:lastModifiedBy>Finn Smith</cp:lastModifiedBy>
  <cp:revision>6</cp:revision>
  <dcterms:created xsi:type="dcterms:W3CDTF">2026-03-11T22:46:12Z</dcterms:created>
  <dcterms:modified xsi:type="dcterms:W3CDTF">2026-03-12T16:02:39Z</dcterms:modified>
</cp:coreProperties>
</file>